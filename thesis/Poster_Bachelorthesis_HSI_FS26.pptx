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30275213" cy="42803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DF0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10244"/>
    <p:restoredTop sz="94670"/>
  </p:normalViewPr>
  <p:slideViewPr>
    <p:cSldViewPr snapToGrid="0">
      <p:cViewPr>
        <p:scale>
          <a:sx n="70" d="100"/>
          <a:sy n="70" d="100"/>
        </p:scale>
        <p:origin x="-3344" y="-12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0641" y="7005156"/>
            <a:ext cx="25733931" cy="14902051"/>
          </a:xfrm>
        </p:spPr>
        <p:txBody>
          <a:bodyPr anchor="b"/>
          <a:lstStyle>
            <a:lvl1pPr algn="ctr">
              <a:defRPr sz="19865"/>
            </a:lvl1pPr>
          </a:lstStyle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84402" y="22481887"/>
            <a:ext cx="22706410" cy="10334331"/>
          </a:xfrm>
        </p:spPr>
        <p:txBody>
          <a:bodyPr/>
          <a:lstStyle>
            <a:lvl1pPr marL="0" indent="0" algn="ctr">
              <a:buNone/>
              <a:defRPr sz="7946"/>
            </a:lvl1pPr>
            <a:lvl2pPr marL="1513743" indent="0" algn="ctr">
              <a:buNone/>
              <a:defRPr sz="6622"/>
            </a:lvl2pPr>
            <a:lvl3pPr marL="3027487" indent="0" algn="ctr">
              <a:buNone/>
              <a:defRPr sz="5960"/>
            </a:lvl3pPr>
            <a:lvl4pPr marL="4541230" indent="0" algn="ctr">
              <a:buNone/>
              <a:defRPr sz="5297"/>
            </a:lvl4pPr>
            <a:lvl5pPr marL="6054974" indent="0" algn="ctr">
              <a:buNone/>
              <a:defRPr sz="5297"/>
            </a:lvl5pPr>
            <a:lvl6pPr marL="7568717" indent="0" algn="ctr">
              <a:buNone/>
              <a:defRPr sz="5297"/>
            </a:lvl6pPr>
            <a:lvl7pPr marL="9082461" indent="0" algn="ctr">
              <a:buNone/>
              <a:defRPr sz="5297"/>
            </a:lvl7pPr>
            <a:lvl8pPr marL="10596204" indent="0" algn="ctr">
              <a:buNone/>
              <a:defRPr sz="5297"/>
            </a:lvl8pPr>
            <a:lvl9pPr marL="12109948" indent="0" algn="ctr">
              <a:buNone/>
              <a:defRPr sz="5297"/>
            </a:lvl9pPr>
          </a:lstStyle>
          <a:p>
            <a:r>
              <a:rPr lang="de-DE" dirty="0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C21C2-D06D-A846-8D4F-FDCB2728D82C}" type="datetimeFigureOut">
              <a:t>21.08.2026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FE50D-F22C-9348-95BA-01151502F9E6}" type="slidenum"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64121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C21C2-D06D-A846-8D4F-FDCB2728D82C}" type="datetimeFigureOut">
              <a:t>21.08.2026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FE50D-F22C-9348-95BA-01151502F9E6}" type="slidenum"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30251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5654" y="10671229"/>
            <a:ext cx="26112371" cy="17805173"/>
          </a:xfrm>
        </p:spPr>
        <p:txBody>
          <a:bodyPr anchor="b"/>
          <a:lstStyle>
            <a:lvl1pPr>
              <a:defRPr sz="19865"/>
            </a:lvl1pPr>
          </a:lstStyle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65654" y="28644846"/>
            <a:ext cx="26112371" cy="9363320"/>
          </a:xfrm>
        </p:spPr>
        <p:txBody>
          <a:bodyPr/>
          <a:lstStyle>
            <a:lvl1pPr marL="0" indent="0">
              <a:buNone/>
              <a:defRPr sz="7946">
                <a:solidFill>
                  <a:schemeClr val="tx1">
                    <a:tint val="82000"/>
                  </a:schemeClr>
                </a:solidFill>
              </a:defRPr>
            </a:lvl1pPr>
            <a:lvl2pPr marL="1513743" indent="0">
              <a:buNone/>
              <a:defRPr sz="6622">
                <a:solidFill>
                  <a:schemeClr val="tx1">
                    <a:tint val="82000"/>
                  </a:schemeClr>
                </a:solidFill>
              </a:defRPr>
            </a:lvl2pPr>
            <a:lvl3pPr marL="3027487" indent="0">
              <a:buNone/>
              <a:defRPr sz="5960">
                <a:solidFill>
                  <a:schemeClr val="tx1">
                    <a:tint val="82000"/>
                  </a:schemeClr>
                </a:solidFill>
              </a:defRPr>
            </a:lvl3pPr>
            <a:lvl4pPr marL="4541230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4pPr>
            <a:lvl5pPr marL="6054974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5pPr>
            <a:lvl6pPr marL="7568717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6pPr>
            <a:lvl7pPr marL="9082461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7pPr>
            <a:lvl8pPr marL="10596204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8pPr>
            <a:lvl9pPr marL="12109948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C21C2-D06D-A846-8D4F-FDCB2728D82C}" type="datetimeFigureOut">
              <a:t>21.08.2026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FE50D-F22C-9348-95BA-01151502F9E6}" type="slidenum"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523961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81421" y="11394520"/>
            <a:ext cx="12866966" cy="27158594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26826" y="11394520"/>
            <a:ext cx="12866966" cy="27158594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C21C2-D06D-A846-8D4F-FDCB2728D82C}" type="datetimeFigureOut">
              <a:t>21.08.2026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FE50D-F22C-9348-95BA-01151502F9E6}" type="slidenum"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64153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278913"/>
            <a:ext cx="26112371" cy="8273416"/>
          </a:xfrm>
        </p:spPr>
        <p:txBody>
          <a:bodyPr/>
          <a:lstStyle/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5368" y="10492870"/>
            <a:ext cx="12807832" cy="5142393"/>
          </a:xfrm>
        </p:spPr>
        <p:txBody>
          <a:bodyPr anchor="b"/>
          <a:lstStyle>
            <a:lvl1pPr marL="0" indent="0">
              <a:buNone/>
              <a:defRPr sz="7946" b="1"/>
            </a:lvl1pPr>
            <a:lvl2pPr marL="1513743" indent="0">
              <a:buNone/>
              <a:defRPr sz="6622" b="1"/>
            </a:lvl2pPr>
            <a:lvl3pPr marL="3027487" indent="0">
              <a:buNone/>
              <a:defRPr sz="5960" b="1"/>
            </a:lvl3pPr>
            <a:lvl4pPr marL="4541230" indent="0">
              <a:buNone/>
              <a:defRPr sz="5297" b="1"/>
            </a:lvl4pPr>
            <a:lvl5pPr marL="6054974" indent="0">
              <a:buNone/>
              <a:defRPr sz="5297" b="1"/>
            </a:lvl5pPr>
            <a:lvl6pPr marL="7568717" indent="0">
              <a:buNone/>
              <a:defRPr sz="5297" b="1"/>
            </a:lvl6pPr>
            <a:lvl7pPr marL="9082461" indent="0">
              <a:buNone/>
              <a:defRPr sz="5297" b="1"/>
            </a:lvl7pPr>
            <a:lvl8pPr marL="10596204" indent="0">
              <a:buNone/>
              <a:defRPr sz="5297" b="1"/>
            </a:lvl8pPr>
            <a:lvl9pPr marL="12109948" indent="0">
              <a:buNone/>
              <a:defRPr sz="5297" b="1"/>
            </a:lvl9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85368" y="15635264"/>
            <a:ext cx="12807832" cy="22997117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26828" y="10492870"/>
            <a:ext cx="12870909" cy="5142393"/>
          </a:xfrm>
        </p:spPr>
        <p:txBody>
          <a:bodyPr anchor="b"/>
          <a:lstStyle>
            <a:lvl1pPr marL="0" indent="0">
              <a:buNone/>
              <a:defRPr sz="7946" b="1"/>
            </a:lvl1pPr>
            <a:lvl2pPr marL="1513743" indent="0">
              <a:buNone/>
              <a:defRPr sz="6622" b="1"/>
            </a:lvl2pPr>
            <a:lvl3pPr marL="3027487" indent="0">
              <a:buNone/>
              <a:defRPr sz="5960" b="1"/>
            </a:lvl3pPr>
            <a:lvl4pPr marL="4541230" indent="0">
              <a:buNone/>
              <a:defRPr sz="5297" b="1"/>
            </a:lvl4pPr>
            <a:lvl5pPr marL="6054974" indent="0">
              <a:buNone/>
              <a:defRPr sz="5297" b="1"/>
            </a:lvl5pPr>
            <a:lvl6pPr marL="7568717" indent="0">
              <a:buNone/>
              <a:defRPr sz="5297" b="1"/>
            </a:lvl6pPr>
            <a:lvl7pPr marL="9082461" indent="0">
              <a:buNone/>
              <a:defRPr sz="5297" b="1"/>
            </a:lvl7pPr>
            <a:lvl8pPr marL="10596204" indent="0">
              <a:buNone/>
              <a:defRPr sz="5297" b="1"/>
            </a:lvl8pPr>
            <a:lvl9pPr marL="12109948" indent="0">
              <a:buNone/>
              <a:defRPr sz="5297" b="1"/>
            </a:lvl9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26828" y="15635264"/>
            <a:ext cx="12870909" cy="22997117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C21C2-D06D-A846-8D4F-FDCB2728D82C}" type="datetimeFigureOut">
              <a:t>21.08.2026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FE50D-F22C-9348-95BA-01151502F9E6}" type="slidenum"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01932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C21C2-D06D-A846-8D4F-FDCB2728D82C}" type="datetimeFigureOut">
              <a:t>21.08.2026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FE50D-F22C-9348-95BA-01151502F9E6}" type="slidenum"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421693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C21C2-D06D-A846-8D4F-FDCB2728D82C}" type="datetimeFigureOut">
              <a:t>21.08.2026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FE50D-F22C-9348-95BA-01151502F9E6}" type="slidenum"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00405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853584"/>
            <a:ext cx="9764544" cy="9987545"/>
          </a:xfrm>
        </p:spPr>
        <p:txBody>
          <a:bodyPr anchor="b"/>
          <a:lstStyle>
            <a:lvl1pPr>
              <a:defRPr sz="10595"/>
            </a:lvl1pPr>
          </a:lstStyle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70909" y="6162959"/>
            <a:ext cx="15326827" cy="30418415"/>
          </a:xfrm>
        </p:spPr>
        <p:txBody>
          <a:bodyPr/>
          <a:lstStyle>
            <a:lvl1pPr>
              <a:defRPr sz="10595"/>
            </a:lvl1pPr>
            <a:lvl2pPr>
              <a:defRPr sz="9271"/>
            </a:lvl2pPr>
            <a:lvl3pPr>
              <a:defRPr sz="7946"/>
            </a:lvl3pPr>
            <a:lvl4pPr>
              <a:defRPr sz="6622"/>
            </a:lvl4pPr>
            <a:lvl5pPr>
              <a:defRPr sz="6622"/>
            </a:lvl5pPr>
            <a:lvl6pPr>
              <a:defRPr sz="6622"/>
            </a:lvl6pPr>
            <a:lvl7pPr>
              <a:defRPr sz="6622"/>
            </a:lvl7pPr>
            <a:lvl8pPr>
              <a:defRPr sz="6622"/>
            </a:lvl8pPr>
            <a:lvl9pPr>
              <a:defRPr sz="6622"/>
            </a:lvl9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12841129"/>
            <a:ext cx="9764544" cy="23789780"/>
          </a:xfrm>
        </p:spPr>
        <p:txBody>
          <a:bodyPr/>
          <a:lstStyle>
            <a:lvl1pPr marL="0" indent="0">
              <a:buNone/>
              <a:defRPr sz="5297"/>
            </a:lvl1pPr>
            <a:lvl2pPr marL="1513743" indent="0">
              <a:buNone/>
              <a:defRPr sz="4635"/>
            </a:lvl2pPr>
            <a:lvl3pPr marL="3027487" indent="0">
              <a:buNone/>
              <a:defRPr sz="3973"/>
            </a:lvl3pPr>
            <a:lvl4pPr marL="4541230" indent="0">
              <a:buNone/>
              <a:defRPr sz="3311"/>
            </a:lvl4pPr>
            <a:lvl5pPr marL="6054974" indent="0">
              <a:buNone/>
              <a:defRPr sz="3311"/>
            </a:lvl5pPr>
            <a:lvl6pPr marL="7568717" indent="0">
              <a:buNone/>
              <a:defRPr sz="3311"/>
            </a:lvl6pPr>
            <a:lvl7pPr marL="9082461" indent="0">
              <a:buNone/>
              <a:defRPr sz="3311"/>
            </a:lvl7pPr>
            <a:lvl8pPr marL="10596204" indent="0">
              <a:buNone/>
              <a:defRPr sz="3311"/>
            </a:lvl8pPr>
            <a:lvl9pPr marL="12109948" indent="0">
              <a:buNone/>
              <a:defRPr sz="3311"/>
            </a:lvl9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C21C2-D06D-A846-8D4F-FDCB2728D82C}" type="datetimeFigureOut">
              <a:t>21.08.2026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FE50D-F22C-9348-95BA-01151502F9E6}" type="slidenum"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806487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853584"/>
            <a:ext cx="9764544" cy="9987545"/>
          </a:xfrm>
        </p:spPr>
        <p:txBody>
          <a:bodyPr anchor="b"/>
          <a:lstStyle>
            <a:lvl1pPr>
              <a:defRPr sz="10595"/>
            </a:lvl1pPr>
          </a:lstStyle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70909" y="6162959"/>
            <a:ext cx="15326827" cy="30418415"/>
          </a:xfrm>
        </p:spPr>
        <p:txBody>
          <a:bodyPr anchor="t"/>
          <a:lstStyle>
            <a:lvl1pPr marL="0" indent="0">
              <a:buNone/>
              <a:defRPr sz="10595"/>
            </a:lvl1pPr>
            <a:lvl2pPr marL="1513743" indent="0">
              <a:buNone/>
              <a:defRPr sz="9271"/>
            </a:lvl2pPr>
            <a:lvl3pPr marL="3027487" indent="0">
              <a:buNone/>
              <a:defRPr sz="7946"/>
            </a:lvl3pPr>
            <a:lvl4pPr marL="4541230" indent="0">
              <a:buNone/>
              <a:defRPr sz="6622"/>
            </a:lvl4pPr>
            <a:lvl5pPr marL="6054974" indent="0">
              <a:buNone/>
              <a:defRPr sz="6622"/>
            </a:lvl5pPr>
            <a:lvl6pPr marL="7568717" indent="0">
              <a:buNone/>
              <a:defRPr sz="6622"/>
            </a:lvl6pPr>
            <a:lvl7pPr marL="9082461" indent="0">
              <a:buNone/>
              <a:defRPr sz="6622"/>
            </a:lvl7pPr>
            <a:lvl8pPr marL="10596204" indent="0">
              <a:buNone/>
              <a:defRPr sz="6622"/>
            </a:lvl8pPr>
            <a:lvl9pPr marL="12109948" indent="0">
              <a:buNone/>
              <a:defRPr sz="6622"/>
            </a:lvl9pPr>
          </a:lstStyle>
          <a:p>
            <a:r>
              <a:rPr lang="de-DE" dirty="0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12841129"/>
            <a:ext cx="9764544" cy="23789780"/>
          </a:xfrm>
        </p:spPr>
        <p:txBody>
          <a:bodyPr/>
          <a:lstStyle>
            <a:lvl1pPr marL="0" indent="0">
              <a:buNone/>
              <a:defRPr sz="5297"/>
            </a:lvl1pPr>
            <a:lvl2pPr marL="1513743" indent="0">
              <a:buNone/>
              <a:defRPr sz="4635"/>
            </a:lvl2pPr>
            <a:lvl3pPr marL="3027487" indent="0">
              <a:buNone/>
              <a:defRPr sz="3973"/>
            </a:lvl3pPr>
            <a:lvl4pPr marL="4541230" indent="0">
              <a:buNone/>
              <a:defRPr sz="3311"/>
            </a:lvl4pPr>
            <a:lvl5pPr marL="6054974" indent="0">
              <a:buNone/>
              <a:defRPr sz="3311"/>
            </a:lvl5pPr>
            <a:lvl6pPr marL="7568717" indent="0">
              <a:buNone/>
              <a:defRPr sz="3311"/>
            </a:lvl6pPr>
            <a:lvl7pPr marL="9082461" indent="0">
              <a:buNone/>
              <a:defRPr sz="3311"/>
            </a:lvl7pPr>
            <a:lvl8pPr marL="10596204" indent="0">
              <a:buNone/>
              <a:defRPr sz="3311"/>
            </a:lvl8pPr>
            <a:lvl9pPr marL="12109948" indent="0">
              <a:buNone/>
              <a:defRPr sz="3311"/>
            </a:lvl9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C21C2-D06D-A846-8D4F-FDCB2728D82C}" type="datetimeFigureOut">
              <a:t>21.08.2026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FE50D-F22C-9348-95BA-01151502F9E6}" type="slidenum"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054923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C21C2-D06D-A846-8D4F-FDCB2728D82C}" type="datetimeFigureOut">
              <a:t>21.08.2026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FE50D-F22C-9348-95BA-01151502F9E6}" type="slidenum"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571512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665701" y="2278904"/>
            <a:ext cx="6528093" cy="36274211"/>
          </a:xfrm>
        </p:spPr>
        <p:txBody>
          <a:bodyPr vert="eaVert"/>
          <a:lstStyle/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81423" y="2278904"/>
            <a:ext cx="19205838" cy="36274211"/>
          </a:xfrm>
        </p:spPr>
        <p:txBody>
          <a:bodyPr vert="eaVert"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C21C2-D06D-A846-8D4F-FDCB2728D82C}" type="datetimeFigureOut">
              <a:t>21.08.2026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FE50D-F22C-9348-95BA-01151502F9E6}" type="slidenum"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324722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81421" y="2278913"/>
            <a:ext cx="26112371" cy="827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1421" y="11394520"/>
            <a:ext cx="26112371" cy="271585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81421" y="39672756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97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BC21C2-D06D-A846-8D4F-FDCB2728D82C}" type="datetimeFigureOut">
              <a:t>21.08.2026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028665" y="39672756"/>
            <a:ext cx="10217884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97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381869" y="39672756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97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DFE50D-F22C-9348-95BA-01151502F9E6}" type="slidenum"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24702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027487" rtl="0" eaLnBrk="1" latinLnBrk="0" hangingPunct="1">
        <a:lnSpc>
          <a:spcPct val="90000"/>
        </a:lnSpc>
        <a:spcBef>
          <a:spcPct val="0"/>
        </a:spcBef>
        <a:buNone/>
        <a:defRPr sz="1456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56872" indent="-756872" algn="l" defTabSz="3027487" rtl="0" eaLnBrk="1" latinLnBrk="0" hangingPunct="1">
        <a:lnSpc>
          <a:spcPct val="90000"/>
        </a:lnSpc>
        <a:spcBef>
          <a:spcPts val="3311"/>
        </a:spcBef>
        <a:buFont typeface="Arial" panose="020B0604020202020204" pitchFamily="34" charset="0"/>
        <a:buChar char="•"/>
        <a:defRPr sz="9271" kern="1200">
          <a:solidFill>
            <a:schemeClr val="tx1"/>
          </a:solidFill>
          <a:latin typeface="+mn-lt"/>
          <a:ea typeface="+mn-ea"/>
          <a:cs typeface="+mn-cs"/>
        </a:defRPr>
      </a:lvl1pPr>
      <a:lvl2pPr marL="2270615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7946" kern="1200">
          <a:solidFill>
            <a:schemeClr val="tx1"/>
          </a:solidFill>
          <a:latin typeface="+mn-lt"/>
          <a:ea typeface="+mn-ea"/>
          <a:cs typeface="+mn-cs"/>
        </a:defRPr>
      </a:lvl2pPr>
      <a:lvl3pPr marL="3784359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6622" kern="1200">
          <a:solidFill>
            <a:schemeClr val="tx1"/>
          </a:solidFill>
          <a:latin typeface="+mn-lt"/>
          <a:ea typeface="+mn-ea"/>
          <a:cs typeface="+mn-cs"/>
        </a:defRPr>
      </a:lvl3pPr>
      <a:lvl4pPr marL="5298102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811846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8325589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839333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1353076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866820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1pPr>
      <a:lvl2pPr marL="1513743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2pPr>
      <a:lvl3pPr marL="3027487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3pPr>
      <a:lvl4pPr marL="4541230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054974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7568717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082461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0596204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109948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Picture 78">
            <a:extLst>
              <a:ext uri="{FF2B5EF4-FFF2-40B4-BE49-F238E27FC236}">
                <a16:creationId xmlns:a16="http://schemas.microsoft.com/office/drawing/2014/main" id="{6CF95D80-F115-1BD1-6004-A1B6265C4D8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0000"/>
          </a:blip>
          <a:srcRect l="34348" t="12229" r="33417" b="6865"/>
          <a:stretch>
            <a:fillRect/>
          </a:stretch>
        </p:blipFill>
        <p:spPr>
          <a:xfrm>
            <a:off x="0" y="-1"/>
            <a:ext cx="30334227" cy="42803763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037F344C-0FDF-20B1-B929-45841772FEF7}"/>
              </a:ext>
            </a:extLst>
          </p:cNvPr>
          <p:cNvSpPr/>
          <p:nvPr/>
        </p:nvSpPr>
        <p:spPr>
          <a:xfrm>
            <a:off x="6363224" y="11452861"/>
            <a:ext cx="11494469" cy="617220"/>
          </a:xfrm>
          <a:prstGeom prst="rect">
            <a:avLst/>
          </a:prstGeom>
          <a:solidFill>
            <a:srgbClr val="FEDF0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716606C-7D5C-7967-07EE-9C15191014A0}"/>
              </a:ext>
            </a:extLst>
          </p:cNvPr>
          <p:cNvSpPr txBox="1"/>
          <p:nvPr/>
        </p:nvSpPr>
        <p:spPr>
          <a:xfrm>
            <a:off x="2733628" y="4964430"/>
            <a:ext cx="23186371" cy="7478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6000" b="1" dirty="0">
                <a:latin typeface=""/>
              </a:rPr>
              <a:t>Automatisierte Microsegmentierung</a:t>
            </a:r>
            <a:br>
              <a:rPr lang="de-CH" sz="16000" b="1" dirty="0">
                <a:latin typeface=""/>
              </a:rPr>
            </a:br>
            <a:r>
              <a:rPr lang="de-CH" sz="16000" b="1" dirty="0">
                <a:latin typeface=""/>
              </a:rPr>
              <a:t>mit Digital Twin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52036673-B2A2-CDDC-408F-AE418CE5A5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999" y="719541"/>
            <a:ext cx="7722210" cy="1198800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CAEFFB29-6FC7-D213-210A-A1ECC5D65AFF}"/>
              </a:ext>
            </a:extLst>
          </p:cNvPr>
          <p:cNvSpPr txBox="1"/>
          <p:nvPr/>
        </p:nvSpPr>
        <p:spPr>
          <a:xfrm>
            <a:off x="719999" y="39909248"/>
            <a:ext cx="21282751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 err="1">
                <a:latin typeface="Inter Light" panose="02000503000000020004" pitchFamily="2" charset="0"/>
                <a:ea typeface="Inter Light" panose="02000503000000020004" pitchFamily="2" charset="0"/>
              </a:rPr>
              <a:t>Diplomand:in</a:t>
            </a:r>
            <a:r>
              <a:rPr lang="de-DE" sz="2800" dirty="0">
                <a:latin typeface="Inter Light" panose="02000503000000020004" pitchFamily="2" charset="0"/>
                <a:ea typeface="Inter Light" panose="02000503000000020004" pitchFamily="2" charset="0"/>
              </a:rPr>
              <a:t>:						Vogt Martin</a:t>
            </a:r>
          </a:p>
          <a:p>
            <a:r>
              <a:rPr lang="de-DE" sz="2800" dirty="0">
                <a:latin typeface="Inter Light" panose="02000503000000020004" pitchFamily="2" charset="0"/>
                <a:ea typeface="Inter Light" panose="02000503000000020004" pitchFamily="2" charset="0"/>
              </a:rPr>
              <a:t>Projekttitel:							Automatisierte Microsegmentierungsstrategie </a:t>
            </a:r>
            <a:br>
              <a:rPr lang="de-DE" sz="2800" dirty="0">
                <a:latin typeface="Inter Light" panose="02000503000000020004" pitchFamily="2" charset="0"/>
                <a:ea typeface="Inter Light" panose="02000503000000020004" pitchFamily="2" charset="0"/>
              </a:rPr>
            </a:br>
            <a:r>
              <a:rPr lang="de-DE" sz="2800" dirty="0">
                <a:latin typeface="Inter Light" panose="02000503000000020004" pitchFamily="2" charset="0"/>
                <a:ea typeface="Inter Light" panose="02000503000000020004" pitchFamily="2" charset="0"/>
              </a:rPr>
              <a:t>										basierend auf Digital Twin Netzwerk-Mapping</a:t>
            </a:r>
          </a:p>
          <a:p>
            <a:r>
              <a:rPr lang="de-DE" sz="2800" dirty="0">
                <a:latin typeface="Inter Light" panose="02000503000000020004" pitchFamily="2" charset="0"/>
                <a:ea typeface="Inter Light" panose="02000503000000020004" pitchFamily="2" charset="0"/>
              </a:rPr>
              <a:t>Studiengang / Semester:			Informatik / FS26</a:t>
            </a:r>
          </a:p>
          <a:p>
            <a:r>
              <a:rPr lang="de-DE" sz="2800" dirty="0" err="1">
                <a:latin typeface="Inter Light" panose="02000503000000020004" pitchFamily="2" charset="0"/>
                <a:ea typeface="Inter Light" panose="02000503000000020004" pitchFamily="2" charset="0"/>
              </a:rPr>
              <a:t>Auftraggeber:in</a:t>
            </a:r>
            <a:r>
              <a:rPr lang="de-DE" sz="2800" dirty="0">
                <a:latin typeface="Inter Light" panose="02000503000000020004" pitchFamily="2" charset="0"/>
                <a:ea typeface="Inter Light" panose="02000503000000020004" pitchFamily="2" charset="0"/>
              </a:rPr>
              <a:t>:					Christopher Scherb, Luc Heitz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74A137-02AE-6A77-7B8D-2FA29B3E6F33}"/>
              </a:ext>
            </a:extLst>
          </p:cNvPr>
          <p:cNvSpPr txBox="1"/>
          <p:nvPr/>
        </p:nvSpPr>
        <p:spPr>
          <a:xfrm>
            <a:off x="2733627" y="12734986"/>
            <a:ext cx="23186371" cy="20277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8000"/>
              </a:lnSpc>
            </a:pPr>
            <a:r>
              <a:rPr lang="de-CH" sz="4800" dirty="0">
                <a:solidFill>
                  <a:schemeClr val="bg2">
                    <a:lumMod val="50000"/>
                  </a:schemeClr>
                </a:solidFill>
                <a:latin typeface=""/>
              </a:rPr>
              <a:t>Ein </a:t>
            </a:r>
            <a:r>
              <a:rPr lang="de-CH" sz="4800" dirty="0" err="1">
                <a:solidFill>
                  <a:schemeClr val="bg2">
                    <a:lumMod val="50000"/>
                  </a:schemeClr>
                </a:solidFill>
                <a:latin typeface=""/>
              </a:rPr>
              <a:t>graphbasierter</a:t>
            </a:r>
            <a:r>
              <a:rPr lang="de-CH" sz="4800" dirty="0">
                <a:solidFill>
                  <a:schemeClr val="bg2">
                    <a:lumMod val="50000"/>
                  </a:schemeClr>
                </a:solidFill>
                <a:latin typeface=""/>
              </a:rPr>
              <a:t> Ansatz übersetzt Kommunikationsanforderungen</a:t>
            </a:r>
            <a:br>
              <a:rPr lang="de-CH" sz="4800" dirty="0">
                <a:solidFill>
                  <a:schemeClr val="bg2">
                    <a:lumMod val="50000"/>
                  </a:schemeClr>
                </a:solidFill>
                <a:latin typeface=""/>
              </a:rPr>
            </a:br>
            <a:r>
              <a:rPr lang="de-CH" sz="4800" dirty="0">
                <a:solidFill>
                  <a:schemeClr val="bg2">
                    <a:lumMod val="50000"/>
                  </a:schemeClr>
                </a:solidFill>
                <a:latin typeface=""/>
              </a:rPr>
              <a:t>automatisch in eine VLAN-basierte Segmentierung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50A804A3-2497-EE99-8C82-2A5F74D34141}"/>
              </a:ext>
            </a:extLst>
          </p:cNvPr>
          <p:cNvGrpSpPr/>
          <p:nvPr/>
        </p:nvGrpSpPr>
        <p:grpSpPr>
          <a:xfrm>
            <a:off x="2327227" y="16639431"/>
            <a:ext cx="15868221" cy="3381801"/>
            <a:chOff x="286179" y="16559543"/>
            <a:chExt cx="15868221" cy="3381801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8B58A771-4F3B-A86A-9693-5365DA1F68E9}"/>
                </a:ext>
              </a:extLst>
            </p:cNvPr>
            <p:cNvGrpSpPr/>
            <p:nvPr/>
          </p:nvGrpSpPr>
          <p:grpSpPr>
            <a:xfrm>
              <a:off x="4501467" y="16559543"/>
              <a:ext cx="11652933" cy="3343194"/>
              <a:chOff x="4501467" y="16559543"/>
              <a:chExt cx="11652933" cy="3343194"/>
            </a:xfrm>
          </p:grpSpPr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22DB759-A621-A3D6-917A-BBE48CE37CA8}"/>
                  </a:ext>
                </a:extLst>
              </p:cNvPr>
              <p:cNvSpPr txBox="1"/>
              <p:nvPr/>
            </p:nvSpPr>
            <p:spPr>
              <a:xfrm>
                <a:off x="4501467" y="16559543"/>
                <a:ext cx="11652933" cy="9843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8000"/>
                  </a:lnSpc>
                </a:pPr>
                <a:r>
                  <a:rPr lang="de-CH" sz="4000" b="1" dirty="0">
                    <a:latin typeface=""/>
                  </a:rPr>
                  <a:t>Netzwerk als Graph modellieren</a:t>
                </a:r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DF429DF-6F61-3938-B352-700AA29B2D2A}"/>
                  </a:ext>
                </a:extLst>
              </p:cNvPr>
              <p:cNvSpPr txBox="1"/>
              <p:nvPr/>
            </p:nvSpPr>
            <p:spPr>
              <a:xfrm>
                <a:off x="4501467" y="17759843"/>
                <a:ext cx="11652933" cy="21428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5500"/>
                  </a:lnSpc>
                </a:pPr>
                <a:r>
                  <a:rPr lang="de-CH" sz="3600" dirty="0">
                    <a:latin typeface=""/>
                  </a:rPr>
                  <a:t>Hosts, Switches und Verbindungen</a:t>
                </a:r>
                <a:br>
                  <a:rPr lang="de-CH" sz="3600" dirty="0">
                    <a:latin typeface=""/>
                  </a:rPr>
                </a:br>
                <a:r>
                  <a:rPr lang="de-CH" sz="3600" dirty="0">
                    <a:latin typeface=""/>
                  </a:rPr>
                  <a:t>werden als Digital Twin strukturiert</a:t>
                </a:r>
                <a:br>
                  <a:rPr lang="de-CH" sz="3600" dirty="0">
                    <a:latin typeface=""/>
                  </a:rPr>
                </a:br>
                <a:r>
                  <a:rPr lang="de-CH" sz="3600" dirty="0">
                    <a:latin typeface=""/>
                  </a:rPr>
                  <a:t>abgebildet</a:t>
                </a:r>
              </a:p>
            </p:txBody>
          </p:sp>
        </p:grp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8FF16334-BF2C-E955-54B9-189355BEEA0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86179" y="16765203"/>
              <a:ext cx="3176141" cy="3176141"/>
            </a:xfrm>
            <a:prstGeom prst="rect">
              <a:avLst/>
            </a:prstGeom>
          </p:spPr>
        </p:pic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E3504D5-D341-1E8A-ADB7-C3F959785A54}"/>
              </a:ext>
            </a:extLst>
          </p:cNvPr>
          <p:cNvGrpSpPr/>
          <p:nvPr/>
        </p:nvGrpSpPr>
        <p:grpSpPr>
          <a:xfrm>
            <a:off x="2636661" y="26262138"/>
            <a:ext cx="15558787" cy="3144015"/>
            <a:chOff x="595613" y="26182250"/>
            <a:chExt cx="15558787" cy="3144015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D18D0353-76DC-112C-4425-5D8FBEAF04B7}"/>
                </a:ext>
              </a:extLst>
            </p:cNvPr>
            <p:cNvGrpSpPr/>
            <p:nvPr/>
          </p:nvGrpSpPr>
          <p:grpSpPr>
            <a:xfrm>
              <a:off x="4501467" y="26182250"/>
              <a:ext cx="11652933" cy="2637873"/>
              <a:chOff x="4383582" y="26132781"/>
              <a:chExt cx="11652933" cy="2637873"/>
            </a:xfrm>
          </p:grpSpPr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E7159C0-16E0-EE11-BA5D-7686792EADB6}"/>
                  </a:ext>
                </a:extLst>
              </p:cNvPr>
              <p:cNvSpPr txBox="1"/>
              <p:nvPr/>
            </p:nvSpPr>
            <p:spPr>
              <a:xfrm>
                <a:off x="4383582" y="26132781"/>
                <a:ext cx="11652933" cy="9843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8000"/>
                  </a:lnSpc>
                </a:pPr>
                <a:r>
                  <a:rPr lang="de-CH" sz="4000" b="1" dirty="0">
                    <a:latin typeface=""/>
                  </a:rPr>
                  <a:t>Segmentierung automatisch berechnen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A8B0F2B-2CD1-D917-5772-862605328991}"/>
                  </a:ext>
                </a:extLst>
              </p:cNvPr>
              <p:cNvSpPr txBox="1"/>
              <p:nvPr/>
            </p:nvSpPr>
            <p:spPr>
              <a:xfrm>
                <a:off x="4383582" y="27333081"/>
                <a:ext cx="11652933" cy="14375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5500"/>
                  </a:lnSpc>
                </a:pPr>
                <a:r>
                  <a:rPr lang="de-CH" sz="3600" dirty="0">
                    <a:latin typeface=""/>
                  </a:rPr>
                  <a:t>Heuristik und Z3 leiten daraus eine</a:t>
                </a:r>
                <a:br>
                  <a:rPr lang="de-CH" sz="3600" dirty="0">
                    <a:latin typeface=""/>
                  </a:rPr>
                </a:br>
                <a:r>
                  <a:rPr lang="de-CH" sz="3600" dirty="0">
                    <a:latin typeface=""/>
                  </a:rPr>
                  <a:t>konsistente VLAN-Segmentierung ab.</a:t>
                </a:r>
              </a:p>
            </p:txBody>
          </p:sp>
        </p:grp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69289C82-3BAD-1EE4-6B10-4BA2E6CAB4A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95613" y="26622965"/>
              <a:ext cx="2703300" cy="2703300"/>
            </a:xfrm>
            <a:prstGeom prst="rect">
              <a:avLst/>
            </a:prstGeom>
          </p:spPr>
        </p:pic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814DF85-FB67-9DA1-1A7D-E934B4FDA669}"/>
              </a:ext>
            </a:extLst>
          </p:cNvPr>
          <p:cNvGrpSpPr/>
          <p:nvPr/>
        </p:nvGrpSpPr>
        <p:grpSpPr>
          <a:xfrm>
            <a:off x="2469321" y="21449042"/>
            <a:ext cx="15726127" cy="3343194"/>
            <a:chOff x="428273" y="21369154"/>
            <a:chExt cx="15726127" cy="3343194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CF48DEE-D141-32E2-4A27-8F0C34018386}"/>
                </a:ext>
              </a:extLst>
            </p:cNvPr>
            <p:cNvGrpSpPr/>
            <p:nvPr/>
          </p:nvGrpSpPr>
          <p:grpSpPr>
            <a:xfrm>
              <a:off x="4501467" y="21369154"/>
              <a:ext cx="11652933" cy="3343194"/>
              <a:chOff x="4501467" y="21369154"/>
              <a:chExt cx="11652933" cy="3343194"/>
            </a:xfrm>
          </p:grpSpPr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A48C6C6-9216-6CBC-10AD-3A3DBD481A4C}"/>
                  </a:ext>
                </a:extLst>
              </p:cNvPr>
              <p:cNvSpPr txBox="1"/>
              <p:nvPr/>
            </p:nvSpPr>
            <p:spPr>
              <a:xfrm>
                <a:off x="4501467" y="21369154"/>
                <a:ext cx="11652933" cy="9843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8000"/>
                  </a:lnSpc>
                </a:pPr>
                <a:r>
                  <a:rPr lang="de-CH" sz="4000" b="1" dirty="0">
                    <a:latin typeface=""/>
                  </a:rPr>
                  <a:t>ALLOW- und DENY-Regeln definieren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F631C5E-F5D9-1683-820B-7670DC4880A1}"/>
                  </a:ext>
                </a:extLst>
              </p:cNvPr>
              <p:cNvSpPr txBox="1"/>
              <p:nvPr/>
            </p:nvSpPr>
            <p:spPr>
              <a:xfrm>
                <a:off x="4501467" y="22569454"/>
                <a:ext cx="11652933" cy="21428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5500"/>
                  </a:lnSpc>
                </a:pPr>
                <a:r>
                  <a:rPr lang="de-CH" sz="3600" dirty="0">
                    <a:latin typeface=""/>
                  </a:rPr>
                  <a:t>Erlaubte und verbotene Kommunikation</a:t>
                </a:r>
                <a:br>
                  <a:rPr lang="de-CH" sz="3600" dirty="0">
                    <a:latin typeface=""/>
                  </a:rPr>
                </a:br>
                <a:r>
                  <a:rPr lang="de-CH" sz="3600" dirty="0">
                    <a:latin typeface=""/>
                  </a:rPr>
                  <a:t>wird formal beschrieben und entlang</a:t>
                </a:r>
                <a:br>
                  <a:rPr lang="de-CH" sz="3600" dirty="0">
                    <a:latin typeface=""/>
                  </a:rPr>
                </a:br>
                <a:r>
                  <a:rPr lang="de-CH" sz="3600" dirty="0">
                    <a:latin typeface=""/>
                  </a:rPr>
                  <a:t>der Topologie geprüft</a:t>
                </a:r>
              </a:p>
            </p:txBody>
          </p:sp>
        </p:grpSp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4C024470-566B-BF87-D158-8E08F93C5D6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28273" y="21861340"/>
              <a:ext cx="2703300" cy="2703300"/>
            </a:xfrm>
            <a:prstGeom prst="rect">
              <a:avLst/>
            </a:prstGeom>
          </p:spPr>
        </p:pic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3907ABA6-88E6-680B-4B9C-4C1020D3B544}"/>
              </a:ext>
            </a:extLst>
          </p:cNvPr>
          <p:cNvGrpSpPr/>
          <p:nvPr/>
        </p:nvGrpSpPr>
        <p:grpSpPr>
          <a:xfrm>
            <a:off x="15535173" y="13734772"/>
            <a:ext cx="14799054" cy="17895258"/>
            <a:chOff x="15614687" y="13496230"/>
            <a:chExt cx="14799054" cy="17895258"/>
          </a:xfrm>
        </p:grpSpPr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FE150CF2-1E4E-AE69-8A82-B06233BD264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2487" t="11331" r="28930"/>
            <a:stretch>
              <a:fillRect/>
            </a:stretch>
          </p:blipFill>
          <p:spPr>
            <a:xfrm>
              <a:off x="17771167" y="14762785"/>
              <a:ext cx="12642574" cy="15868552"/>
            </a:xfrm>
            <a:prstGeom prst="rect">
              <a:avLst/>
            </a:prstGeom>
          </p:spPr>
        </p:pic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2C863277-DBBA-8F1F-E6E3-E08C2D4C24E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r="46269"/>
            <a:stretch>
              <a:fillRect/>
            </a:stretch>
          </p:blipFill>
          <p:spPr>
            <a:xfrm>
              <a:off x="15614687" y="13496230"/>
              <a:ext cx="14799054" cy="17895258"/>
            </a:xfrm>
            <a:prstGeom prst="rect">
              <a:avLst/>
            </a:prstGeom>
          </p:spPr>
        </p:pic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C69A3450-9D84-A8C7-78D2-8E0B44D3D40B}"/>
              </a:ext>
            </a:extLst>
          </p:cNvPr>
          <p:cNvGrpSpPr/>
          <p:nvPr/>
        </p:nvGrpSpPr>
        <p:grpSpPr>
          <a:xfrm>
            <a:off x="1108816" y="33712336"/>
            <a:ext cx="28057579" cy="4857851"/>
            <a:chOff x="1108816" y="34139529"/>
            <a:chExt cx="28057579" cy="4857851"/>
          </a:xfrm>
        </p:grpSpPr>
        <p:sp>
          <p:nvSpPr>
            <p:cNvPr id="44" name="Rounded Rectangle 43">
              <a:extLst>
                <a:ext uri="{FF2B5EF4-FFF2-40B4-BE49-F238E27FC236}">
                  <a16:creationId xmlns:a16="http://schemas.microsoft.com/office/drawing/2014/main" id="{E58FB0EC-E81F-212C-3337-587C2BB778C6}"/>
                </a:ext>
              </a:extLst>
            </p:cNvPr>
            <p:cNvSpPr/>
            <p:nvPr/>
          </p:nvSpPr>
          <p:spPr>
            <a:xfrm>
              <a:off x="1108816" y="34139529"/>
              <a:ext cx="6401948" cy="4857851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473912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 dirty="0"/>
            </a:p>
          </p:txBody>
        </p:sp>
        <p:sp>
          <p:nvSpPr>
            <p:cNvPr id="45" name="Rounded Rectangle 44">
              <a:extLst>
                <a:ext uri="{FF2B5EF4-FFF2-40B4-BE49-F238E27FC236}">
                  <a16:creationId xmlns:a16="http://schemas.microsoft.com/office/drawing/2014/main" id="{C92BED06-672C-6715-CFB5-2BBF19BBA127}"/>
                </a:ext>
              </a:extLst>
            </p:cNvPr>
            <p:cNvSpPr/>
            <p:nvPr/>
          </p:nvSpPr>
          <p:spPr>
            <a:xfrm>
              <a:off x="22764447" y="34139529"/>
              <a:ext cx="6401948" cy="4857851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473912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 dirty="0"/>
            </a:p>
          </p:txBody>
        </p:sp>
        <p:sp>
          <p:nvSpPr>
            <p:cNvPr id="46" name="Rounded Rectangle 45">
              <a:extLst>
                <a:ext uri="{FF2B5EF4-FFF2-40B4-BE49-F238E27FC236}">
                  <a16:creationId xmlns:a16="http://schemas.microsoft.com/office/drawing/2014/main" id="{48AEE100-1DA7-08AC-9820-BD86A8AAF138}"/>
                </a:ext>
              </a:extLst>
            </p:cNvPr>
            <p:cNvSpPr/>
            <p:nvPr/>
          </p:nvSpPr>
          <p:spPr>
            <a:xfrm>
              <a:off x="15545903" y="34139529"/>
              <a:ext cx="6401948" cy="4857851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473912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 dirty="0"/>
            </a:p>
          </p:txBody>
        </p:sp>
        <p:sp>
          <p:nvSpPr>
            <p:cNvPr id="47" name="Rounded Rectangle 46">
              <a:extLst>
                <a:ext uri="{FF2B5EF4-FFF2-40B4-BE49-F238E27FC236}">
                  <a16:creationId xmlns:a16="http://schemas.microsoft.com/office/drawing/2014/main" id="{FBDB0CDB-8611-034D-2755-2EEA51970FEB}"/>
                </a:ext>
              </a:extLst>
            </p:cNvPr>
            <p:cNvSpPr/>
            <p:nvPr/>
          </p:nvSpPr>
          <p:spPr>
            <a:xfrm>
              <a:off x="8327360" y="34139529"/>
              <a:ext cx="6401948" cy="4857851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473912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 dirty="0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F7062491-4CBD-3936-847B-A11CCFC24043}"/>
                </a:ext>
              </a:extLst>
            </p:cNvPr>
            <p:cNvSpPr txBox="1"/>
            <p:nvPr/>
          </p:nvSpPr>
          <p:spPr>
            <a:xfrm>
              <a:off x="3324205" y="35226250"/>
              <a:ext cx="3859989" cy="11244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8000"/>
                </a:lnSpc>
              </a:pPr>
              <a:r>
                <a:rPr lang="de-CH" sz="9000" b="1" dirty="0">
                  <a:latin typeface=""/>
                </a:rPr>
                <a:t>72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BD5ECCC3-618E-C930-0A1E-A3A5CC078A0E}"/>
                </a:ext>
              </a:extLst>
            </p:cNvPr>
            <p:cNvSpPr txBox="1"/>
            <p:nvPr/>
          </p:nvSpPr>
          <p:spPr>
            <a:xfrm>
              <a:off x="3324205" y="36138118"/>
              <a:ext cx="3859989" cy="9785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8000"/>
                </a:lnSpc>
              </a:pPr>
              <a:r>
                <a:rPr lang="de-CH" sz="4000" dirty="0">
                  <a:solidFill>
                    <a:schemeClr val="bg2">
                      <a:lumMod val="50000"/>
                    </a:schemeClr>
                  </a:solidFill>
                  <a:latin typeface=""/>
                </a:rPr>
                <a:t>Experimente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C09EFF1F-2161-A322-5ABE-7D8920FBFA92}"/>
                </a:ext>
              </a:extLst>
            </p:cNvPr>
            <p:cNvSpPr txBox="1"/>
            <p:nvPr/>
          </p:nvSpPr>
          <p:spPr>
            <a:xfrm>
              <a:off x="1108816" y="37511812"/>
              <a:ext cx="6401948" cy="9785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8000"/>
                </a:lnSpc>
              </a:pPr>
              <a:r>
                <a:rPr lang="de-CH" sz="4000" dirty="0">
                  <a:solidFill>
                    <a:schemeClr val="bg2">
                      <a:lumMod val="50000"/>
                    </a:schemeClr>
                  </a:solidFill>
                  <a:latin typeface=""/>
                </a:rPr>
                <a:t>Star - Tree - Mesh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A1BD0161-8F69-2016-1D98-8B4A2A2FFBD6}"/>
                </a:ext>
              </a:extLst>
            </p:cNvPr>
            <p:cNvSpPr txBox="1"/>
            <p:nvPr/>
          </p:nvSpPr>
          <p:spPr>
            <a:xfrm>
              <a:off x="10681485" y="35226250"/>
              <a:ext cx="3554293" cy="11244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8000"/>
                </a:lnSpc>
              </a:pPr>
              <a:r>
                <a:rPr lang="de-CH" sz="9000" b="1" dirty="0">
                  <a:latin typeface=""/>
                </a:rPr>
                <a:t>3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74723D38-DAA9-D39E-933A-99D256E49F7B}"/>
                </a:ext>
              </a:extLst>
            </p:cNvPr>
            <p:cNvSpPr txBox="1"/>
            <p:nvPr/>
          </p:nvSpPr>
          <p:spPr>
            <a:xfrm>
              <a:off x="10765741" y="36138118"/>
              <a:ext cx="3470037" cy="9785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8000"/>
                </a:lnSpc>
              </a:pPr>
              <a:r>
                <a:rPr lang="de-CH" sz="4000" dirty="0">
                  <a:solidFill>
                    <a:schemeClr val="bg2">
                      <a:lumMod val="50000"/>
                    </a:schemeClr>
                  </a:solidFill>
                  <a:latin typeface=""/>
                </a:rPr>
                <a:t>Topologien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AE8C5AFD-0A75-4C6A-43D7-37B968EBC939}"/>
                </a:ext>
              </a:extLst>
            </p:cNvPr>
            <p:cNvSpPr txBox="1"/>
            <p:nvPr/>
          </p:nvSpPr>
          <p:spPr>
            <a:xfrm>
              <a:off x="8160400" y="37511812"/>
              <a:ext cx="6401948" cy="9785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8000"/>
                </a:lnSpc>
              </a:pPr>
              <a:r>
                <a:rPr lang="de-CH" sz="4000" dirty="0">
                  <a:solidFill>
                    <a:schemeClr val="bg2">
                      <a:lumMod val="50000"/>
                    </a:schemeClr>
                  </a:solidFill>
                  <a:latin typeface=""/>
                </a:rPr>
                <a:t>Star - Tree - Mesh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7924EA91-D286-2097-AC71-C0E2C657AF78}"/>
                </a:ext>
              </a:extLst>
            </p:cNvPr>
            <p:cNvSpPr txBox="1"/>
            <p:nvPr/>
          </p:nvSpPr>
          <p:spPr>
            <a:xfrm>
              <a:off x="17816191" y="35226250"/>
              <a:ext cx="3859989" cy="11420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8000"/>
                </a:lnSpc>
              </a:pPr>
              <a:r>
                <a:rPr lang="de-CH" sz="9000" b="1" dirty="0">
                  <a:latin typeface=""/>
                </a:rPr>
                <a:t>5-120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699C1435-8EC4-E54A-8F65-69655A9483F1}"/>
                </a:ext>
              </a:extLst>
            </p:cNvPr>
            <p:cNvSpPr txBox="1"/>
            <p:nvPr/>
          </p:nvSpPr>
          <p:spPr>
            <a:xfrm>
              <a:off x="17816191" y="36138118"/>
              <a:ext cx="3859989" cy="9785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8000"/>
                </a:lnSpc>
              </a:pPr>
              <a:r>
                <a:rPr lang="de-CH" sz="4000" dirty="0">
                  <a:solidFill>
                    <a:schemeClr val="bg2">
                      <a:lumMod val="50000"/>
                    </a:schemeClr>
                  </a:solidFill>
                  <a:latin typeface=""/>
                </a:rPr>
                <a:t>Hosts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BE4AD95A-5E7E-7E52-B700-9FBD6A1BBA82}"/>
                </a:ext>
              </a:extLst>
            </p:cNvPr>
            <p:cNvSpPr txBox="1"/>
            <p:nvPr/>
          </p:nvSpPr>
          <p:spPr>
            <a:xfrm>
              <a:off x="15600802" y="37511812"/>
              <a:ext cx="6401948" cy="9785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8000"/>
                </a:lnSpc>
              </a:pPr>
              <a:r>
                <a:rPr lang="de-CH" sz="4000" dirty="0">
                  <a:solidFill>
                    <a:schemeClr val="bg2">
                      <a:lumMod val="50000"/>
                    </a:schemeClr>
                  </a:solidFill>
                  <a:latin typeface=""/>
                </a:rPr>
                <a:t>synthetische Netzwerke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A64DCF99-575F-3168-87DE-F2C2E6E0C358}"/>
                </a:ext>
              </a:extLst>
            </p:cNvPr>
            <p:cNvSpPr txBox="1"/>
            <p:nvPr/>
          </p:nvSpPr>
          <p:spPr>
            <a:xfrm>
              <a:off x="24979835" y="35226250"/>
              <a:ext cx="3859989" cy="11244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8000"/>
                </a:lnSpc>
              </a:pPr>
              <a:r>
                <a:rPr lang="de-CH" sz="9000" b="1" dirty="0">
                  <a:latin typeface=""/>
                </a:rPr>
                <a:t>3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11910F70-CF2C-63EF-751C-0B966E51B47D}"/>
                </a:ext>
              </a:extLst>
            </p:cNvPr>
            <p:cNvSpPr txBox="1"/>
            <p:nvPr/>
          </p:nvSpPr>
          <p:spPr>
            <a:xfrm>
              <a:off x="24904683" y="36138118"/>
              <a:ext cx="3935141" cy="9785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8000"/>
                </a:lnSpc>
              </a:pPr>
              <a:r>
                <a:rPr lang="de-CH" sz="3200" dirty="0">
                  <a:solidFill>
                    <a:schemeClr val="bg2">
                      <a:lumMod val="50000"/>
                    </a:schemeClr>
                  </a:solidFill>
                  <a:latin typeface=""/>
                </a:rPr>
                <a:t>Constraint-Dichten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E54F0FBB-4146-D586-CA01-5D4A56DBDB3E}"/>
                </a:ext>
              </a:extLst>
            </p:cNvPr>
            <p:cNvSpPr txBox="1"/>
            <p:nvPr/>
          </p:nvSpPr>
          <p:spPr>
            <a:xfrm>
              <a:off x="22764446" y="37511812"/>
              <a:ext cx="6401948" cy="9785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8000"/>
                </a:lnSpc>
              </a:pPr>
              <a:r>
                <a:rPr lang="de-CH" sz="4000" dirty="0">
                  <a:solidFill>
                    <a:schemeClr val="bg2">
                      <a:lumMod val="50000"/>
                    </a:schemeClr>
                  </a:solidFill>
                  <a:latin typeface=""/>
                </a:rPr>
                <a:t>Low - Medium - High</a:t>
              </a:r>
            </a:p>
          </p:txBody>
        </p:sp>
        <p:pic>
          <p:nvPicPr>
            <p:cNvPr id="70" name="Picture 69">
              <a:extLst>
                <a:ext uri="{FF2B5EF4-FFF2-40B4-BE49-F238E27FC236}">
                  <a16:creationId xmlns:a16="http://schemas.microsoft.com/office/drawing/2014/main" id="{89F6EB01-7843-CAFB-21B9-607CBEF0065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694401" y="35268544"/>
              <a:ext cx="1800000" cy="1800000"/>
            </a:xfrm>
            <a:prstGeom prst="rect">
              <a:avLst/>
            </a:prstGeom>
          </p:spPr>
        </p:pic>
        <p:pic>
          <p:nvPicPr>
            <p:cNvPr id="72" name="Picture 71">
              <a:extLst>
                <a:ext uri="{FF2B5EF4-FFF2-40B4-BE49-F238E27FC236}">
                  <a16:creationId xmlns:a16="http://schemas.microsoft.com/office/drawing/2014/main" id="{42E65DE5-D126-8E74-51D2-5A731A75BE1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8776554" y="35182633"/>
              <a:ext cx="2176670" cy="2176670"/>
            </a:xfrm>
            <a:prstGeom prst="rect">
              <a:avLst/>
            </a:prstGeom>
          </p:spPr>
        </p:pic>
        <p:pic>
          <p:nvPicPr>
            <p:cNvPr id="74" name="Picture 73">
              <a:extLst>
                <a:ext uri="{FF2B5EF4-FFF2-40B4-BE49-F238E27FC236}">
                  <a16:creationId xmlns:a16="http://schemas.microsoft.com/office/drawing/2014/main" id="{842E972B-468C-A2FB-B48C-06685A83B39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6131119" y="35226250"/>
              <a:ext cx="1800000" cy="1800000"/>
            </a:xfrm>
            <a:prstGeom prst="rect">
              <a:avLst/>
            </a:prstGeom>
          </p:spPr>
        </p:pic>
        <p:pic>
          <p:nvPicPr>
            <p:cNvPr id="76" name="Picture 75">
              <a:extLst>
                <a:ext uri="{FF2B5EF4-FFF2-40B4-BE49-F238E27FC236}">
                  <a16:creationId xmlns:a16="http://schemas.microsoft.com/office/drawing/2014/main" id="{F3FA384F-9AB8-941D-3221-0B209E393D32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l="-1" t="18171" r="38415" b="19240"/>
            <a:stretch>
              <a:fillRect/>
            </a:stretch>
          </p:blipFill>
          <p:spPr>
            <a:xfrm>
              <a:off x="23121742" y="35182633"/>
              <a:ext cx="1771158" cy="1800000"/>
            </a:xfrm>
            <a:prstGeom prst="rect">
              <a:avLst/>
            </a:prstGeom>
          </p:spPr>
        </p:pic>
      </p:grpSp>
      <p:pic>
        <p:nvPicPr>
          <p:cNvPr id="81" name="Picture 80">
            <a:extLst>
              <a:ext uri="{FF2B5EF4-FFF2-40B4-BE49-F238E27FC236}">
                <a16:creationId xmlns:a16="http://schemas.microsoft.com/office/drawing/2014/main" id="{0C469668-B60C-AAAE-E627-B9C33D93071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6862401" y="39909248"/>
            <a:ext cx="2303993" cy="2303993"/>
          </a:xfrm>
          <a:prstGeom prst="rect">
            <a:avLst/>
          </a:prstGeom>
        </p:spPr>
      </p:pic>
      <p:sp>
        <p:nvSpPr>
          <p:cNvPr id="82" name="Textfeld 5">
            <a:extLst>
              <a:ext uri="{FF2B5EF4-FFF2-40B4-BE49-F238E27FC236}">
                <a16:creationId xmlns:a16="http://schemas.microsoft.com/office/drawing/2014/main" id="{49838D1B-93B0-F91D-037D-8B768A4144B3}"/>
              </a:ext>
            </a:extLst>
          </p:cNvPr>
          <p:cNvSpPr txBox="1"/>
          <p:nvPr/>
        </p:nvSpPr>
        <p:spPr>
          <a:xfrm>
            <a:off x="27031962" y="39509138"/>
            <a:ext cx="19178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000" b="1" dirty="0">
                <a:latin typeface="Inter" panose="02000503000000020004" pitchFamily="2" charset="0"/>
                <a:ea typeface="Inter" panose="02000503000000020004" pitchFamily="2" charset="0"/>
              </a:rPr>
              <a:t>Projektwebseite</a:t>
            </a:r>
          </a:p>
        </p:txBody>
      </p:sp>
      <p:sp>
        <p:nvSpPr>
          <p:cNvPr id="83" name="Textfeld 5">
            <a:extLst>
              <a:ext uri="{FF2B5EF4-FFF2-40B4-BE49-F238E27FC236}">
                <a16:creationId xmlns:a16="http://schemas.microsoft.com/office/drawing/2014/main" id="{83AF0AA1-BD63-7B03-9B4D-67355FCAB315}"/>
              </a:ext>
            </a:extLst>
          </p:cNvPr>
          <p:cNvSpPr txBox="1"/>
          <p:nvPr/>
        </p:nvSpPr>
        <p:spPr>
          <a:xfrm>
            <a:off x="26298497" y="611055"/>
            <a:ext cx="369203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000" b="1" dirty="0" err="1">
                <a:latin typeface="Inter" panose="02000503000000020004" pitchFamily="2" charset="0"/>
                <a:ea typeface="Inter" panose="02000503000000020004" pitchFamily="2" charset="0"/>
              </a:rPr>
              <a:t>www.fhnw.ch</a:t>
            </a:r>
            <a:endParaRPr lang="de-DE" sz="4000" b="1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73813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85</TotalTime>
  <Words>160</Words>
  <Application>Microsoft Macintosh PowerPoint</Application>
  <PresentationFormat>Custom</PresentationFormat>
  <Paragraphs>26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Inter</vt:lpstr>
      <vt:lpstr>Inter Light</vt:lpstr>
      <vt:lpstr>Office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Sandro Fiechter</dc:creator>
  <cp:lastModifiedBy>Martin Vogt 1 (s)</cp:lastModifiedBy>
  <cp:revision>18</cp:revision>
  <cp:lastPrinted>2026-08-21T06:47:27Z</cp:lastPrinted>
  <dcterms:created xsi:type="dcterms:W3CDTF">2026-06-15T11:07:10Z</dcterms:created>
  <dcterms:modified xsi:type="dcterms:W3CDTF">2026-08-21T06:49:16Z</dcterms:modified>
</cp:coreProperties>
</file>