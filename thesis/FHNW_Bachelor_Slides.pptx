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2" r:id="rId2"/>
    <p:sldId id="275" r:id="rId3"/>
    <p:sldId id="274" r:id="rId4"/>
    <p:sldId id="273" r:id="rId5"/>
    <p:sldId id="276" r:id="rId6"/>
    <p:sldId id="280" r:id="rId7"/>
    <p:sldId id="277" r:id="rId8"/>
    <p:sldId id="278" r:id="rId9"/>
    <p:sldId id="281" r:id="rId10"/>
    <p:sldId id="283" r:id="rId11"/>
    <p:sldId id="290" r:id="rId12"/>
    <p:sldId id="291" r:id="rId13"/>
    <p:sldId id="295" r:id="rId14"/>
    <p:sldId id="296" r:id="rId15"/>
    <p:sldId id="294" r:id="rId16"/>
    <p:sldId id="297" r:id="rId17"/>
    <p:sldId id="298" r:id="rId18"/>
    <p:sldId id="299" r:id="rId19"/>
    <p:sldId id="284" r:id="rId20"/>
    <p:sldId id="285" r:id="rId21"/>
    <p:sldId id="286" r:id="rId22"/>
    <p:sldId id="287" r:id="rId23"/>
    <p:sldId id="288" r:id="rId24"/>
    <p:sldId id="289" r:id="rId25"/>
    <p:sldId id="264" r:id="rId2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860610A-C908-2F48-80F6-F2E37C8F7A4D}">
          <p14:sldIdLst>
            <p14:sldId id="272"/>
            <p14:sldId id="275"/>
          </p14:sldIdLst>
        </p14:section>
        <p14:section name="Motivation" id="{126C087B-DA89-0045-A633-2BEF250AC366}">
          <p14:sldIdLst>
            <p14:sldId id="274"/>
          </p14:sldIdLst>
        </p14:section>
        <p14:section name="Forschungsfrage und Zielsetzung" id="{F633C421-D09E-BC43-9F05-CC1461FBB4D8}">
          <p14:sldIdLst>
            <p14:sldId id="273"/>
          </p14:sldIdLst>
        </p14:section>
        <p14:section name="Lösungsansatz und Systemarchitektur" id="{29DDD299-2649-AA48-9D23-7E157C504473}">
          <p14:sldIdLst>
            <p14:sldId id="276"/>
            <p14:sldId id="280"/>
          </p14:sldIdLst>
        </p14:section>
        <p14:section name="Digital Twin" id="{9F4DA784-7A71-174B-9804-ECB44ED1739A}">
          <p14:sldIdLst>
            <p14:sldId id="277"/>
            <p14:sldId id="278"/>
          </p14:sldIdLst>
        </p14:section>
        <p14:section name="Synthese" id="{59B7C1D8-8581-4640-9CB4-F35A3525E877}">
          <p14:sldIdLst>
            <p14:sldId id="281"/>
            <p14:sldId id="283"/>
            <p14:sldId id="290"/>
            <p14:sldId id="291"/>
            <p14:sldId id="295"/>
            <p14:sldId id="296"/>
            <p14:sldId id="294"/>
            <p14:sldId id="297"/>
            <p14:sldId id="298"/>
            <p14:sldId id="299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DEMO" id="{359A7EFD-E490-FF4C-88C2-43C8DFE0445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45"/>
    <p:restoredTop sz="74218"/>
  </p:normalViewPr>
  <p:slideViewPr>
    <p:cSldViewPr snapToGrid="0">
      <p:cViewPr varScale="1">
        <p:scale>
          <a:sx n="89" d="100"/>
          <a:sy n="89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02DA2-D5EE-8A43-AF76-48CA32020251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DAA1B-D8E1-594F-94DB-4A069C2CE9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420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0:30</a:t>
            </a:r>
          </a:p>
          <a:p>
            <a:endParaRPr dirty="0"/>
          </a:p>
          <a:p>
            <a:r>
              <a:rPr dirty="0"/>
              <a:t>- Kurz Titel und Ziel der Arbeit </a:t>
            </a:r>
            <a:r>
              <a:rPr dirty="0" err="1"/>
              <a:t>nennen</a:t>
            </a:r>
            <a:r>
              <a:rPr dirty="0"/>
              <a:t>.</a:t>
            </a:r>
          </a:p>
          <a:p>
            <a:r>
              <a:rPr dirty="0"/>
              <a:t>- Direkt </a:t>
            </a:r>
            <a:r>
              <a:rPr dirty="0" err="1"/>
              <a:t>mit</a:t>
            </a:r>
            <a:r>
              <a:rPr dirty="0"/>
              <a:t> der </a:t>
            </a:r>
            <a:r>
              <a:rPr dirty="0" err="1"/>
              <a:t>Leitfrage</a:t>
            </a:r>
            <a:r>
              <a:rPr dirty="0"/>
              <a:t> </a:t>
            </a:r>
            <a:r>
              <a:rPr dirty="0" err="1"/>
              <a:t>öffnen</a:t>
            </a:r>
            <a:r>
              <a:rPr dirty="0"/>
              <a:t>: Wie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</a:t>
            </a:r>
            <a:r>
              <a:rPr dirty="0" err="1"/>
              <a:t>abstrakten</a:t>
            </a:r>
            <a:r>
              <a:rPr dirty="0"/>
              <a:t> </a:t>
            </a:r>
            <a:r>
              <a:rPr dirty="0" err="1"/>
              <a:t>Anforderungen</a:t>
            </a:r>
            <a:r>
              <a:rPr dirty="0"/>
              <a:t> </a:t>
            </a:r>
            <a:r>
              <a:rPr dirty="0" err="1"/>
              <a:t>konsistente</a:t>
            </a:r>
            <a:r>
              <a:rPr dirty="0"/>
              <a:t> VLAN-</a:t>
            </a:r>
            <a:r>
              <a:rPr dirty="0" err="1"/>
              <a:t>Zuweisungen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Titel und Abstract</a:t>
            </a:r>
          </a:p>
          <a:p>
            <a:r>
              <a:rPr dirty="0"/>
              <a:t>- </a:t>
            </a:r>
            <a:r>
              <a:rPr dirty="0" err="1"/>
              <a:t>Automatisierte</a:t>
            </a:r>
            <a:r>
              <a:rPr dirty="0"/>
              <a:t> </a:t>
            </a:r>
            <a:r>
              <a:rPr dirty="0" err="1"/>
              <a:t>Microsegmentierung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Digital Twin(1).</a:t>
            </a:r>
            <a:r>
              <a:rPr dirty="0" err="1"/>
              <a:t>png</a:t>
            </a:r>
            <a:r>
              <a:rPr dirty="0"/>
              <a:t> (</a:t>
            </a:r>
            <a:r>
              <a:rPr dirty="0" err="1"/>
              <a:t>vom</a:t>
            </a:r>
            <a:r>
              <a:rPr dirty="0"/>
              <a:t> Autor </a:t>
            </a:r>
            <a:r>
              <a:rPr dirty="0" err="1"/>
              <a:t>bereitgestelltes</a:t>
            </a:r>
            <a:r>
              <a:rPr dirty="0"/>
              <a:t> </a:t>
            </a:r>
            <a:r>
              <a:rPr dirty="0" err="1"/>
              <a:t>Titelvisual</a:t>
            </a:r>
            <a:r>
              <a:rPr dirty="0"/>
              <a:t>)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3C8E-A558-61D5-8F48-E05BA998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04997-D7B5-4D60-D5EE-79DF5E22B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F3D72-4177-C9A6-A5F3-F0F0AC3C2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Nicht </a:t>
            </a:r>
            <a:r>
              <a:rPr dirty="0" err="1"/>
              <a:t>mit</a:t>
            </a:r>
            <a:r>
              <a:rPr dirty="0"/>
              <a:t> Technologie </a:t>
            </a:r>
            <a:r>
              <a:rPr dirty="0" err="1"/>
              <a:t>beginnen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Sicherheitsproblem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Betonen</a:t>
            </a:r>
            <a:r>
              <a:rPr dirty="0"/>
              <a:t>: Das Problem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Anzahl</a:t>
            </a:r>
            <a:r>
              <a:rPr dirty="0"/>
              <a:t> Systeme, </a:t>
            </a:r>
            <a:r>
              <a:rPr dirty="0" err="1"/>
              <a:t>sondern</a:t>
            </a:r>
            <a:r>
              <a:rPr dirty="0"/>
              <a:t> die </a:t>
            </a:r>
            <a:r>
              <a:rPr dirty="0" err="1"/>
              <a:t>Kombination</a:t>
            </a:r>
            <a:r>
              <a:rPr dirty="0"/>
              <a:t> der </a:t>
            </a:r>
            <a:r>
              <a:rPr dirty="0" err="1"/>
              <a:t>Kommunikationsregeln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§1.1–1.2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978FF-64DC-D2A4-0CE8-2002001CA9C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507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Nicht </a:t>
            </a:r>
            <a:r>
              <a:rPr dirty="0" err="1"/>
              <a:t>mit</a:t>
            </a:r>
            <a:r>
              <a:rPr dirty="0"/>
              <a:t> Technologie </a:t>
            </a:r>
            <a:r>
              <a:rPr dirty="0" err="1"/>
              <a:t>beginnen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Sicherheitsproblem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Betonen</a:t>
            </a:r>
            <a:r>
              <a:rPr dirty="0"/>
              <a:t>: Das Problem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Anzahl</a:t>
            </a:r>
            <a:r>
              <a:rPr dirty="0"/>
              <a:t> Systeme, </a:t>
            </a:r>
            <a:r>
              <a:rPr dirty="0" err="1"/>
              <a:t>sondern</a:t>
            </a:r>
            <a:r>
              <a:rPr dirty="0"/>
              <a:t> die </a:t>
            </a:r>
            <a:r>
              <a:rPr dirty="0" err="1"/>
              <a:t>Kombination</a:t>
            </a:r>
            <a:r>
              <a:rPr dirty="0"/>
              <a:t> der </a:t>
            </a:r>
            <a:r>
              <a:rPr dirty="0" err="1"/>
              <a:t>Kommunikationsregeln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Den Scope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Voraussetzung</a:t>
            </a:r>
            <a:r>
              <a:rPr dirty="0"/>
              <a:t> für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reproduzierbare</a:t>
            </a:r>
            <a:r>
              <a:rPr dirty="0"/>
              <a:t> Evaluation </a:t>
            </a:r>
            <a:r>
              <a:rPr dirty="0" err="1"/>
              <a:t>erklären</a:t>
            </a:r>
            <a:r>
              <a:rPr dirty="0"/>
              <a:t>.</a:t>
            </a:r>
          </a:p>
          <a:p>
            <a:r>
              <a:rPr dirty="0"/>
              <a:t>- Das Projekt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Forschungsprototyp</a:t>
            </a:r>
            <a:r>
              <a:rPr dirty="0"/>
              <a:t> und </a:t>
            </a:r>
            <a:r>
              <a:rPr dirty="0" err="1"/>
              <a:t>konkurriert</a:t>
            </a:r>
            <a:r>
              <a:rPr dirty="0"/>
              <a:t> nicht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kommerziellen</a:t>
            </a:r>
            <a:r>
              <a:rPr dirty="0"/>
              <a:t> </a:t>
            </a:r>
            <a:r>
              <a:rPr dirty="0" err="1"/>
              <a:t>Produkt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2:00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Diese</a:t>
            </a:r>
            <a:r>
              <a:rPr dirty="0"/>
              <a:t> Folie </a:t>
            </a:r>
            <a:r>
              <a:rPr dirty="0" err="1"/>
              <a:t>ist</a:t>
            </a:r>
            <a:r>
              <a:rPr dirty="0"/>
              <a:t> der rote Faden für den Rest der </a:t>
            </a:r>
            <a:r>
              <a:rPr dirty="0" err="1"/>
              <a:t>Präsentation</a:t>
            </a:r>
            <a:r>
              <a:rPr dirty="0"/>
              <a:t>.</a:t>
            </a:r>
          </a:p>
          <a:p>
            <a:r>
              <a:rPr dirty="0"/>
              <a:t>- Bei </a:t>
            </a:r>
            <a:r>
              <a:rPr dirty="0" err="1"/>
              <a:t>jedem</a:t>
            </a:r>
            <a:r>
              <a:rPr dirty="0"/>
              <a:t> </a:t>
            </a:r>
            <a:r>
              <a:rPr dirty="0" err="1"/>
              <a:t>späteren</a:t>
            </a:r>
            <a:r>
              <a:rPr dirty="0"/>
              <a:t> Detail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verorten</a:t>
            </a:r>
            <a:r>
              <a:rPr dirty="0"/>
              <a:t>, in </a:t>
            </a:r>
            <a:r>
              <a:rPr dirty="0" err="1"/>
              <a:t>welcher</a:t>
            </a:r>
            <a:r>
              <a:rPr dirty="0"/>
              <a:t> </a:t>
            </a:r>
            <a:r>
              <a:rPr dirty="0" err="1"/>
              <a:t>Stufe</a:t>
            </a:r>
            <a:r>
              <a:rPr dirty="0"/>
              <a:t> der Pipeline es </a:t>
            </a:r>
            <a:r>
              <a:rPr dirty="0" err="1"/>
              <a:t>liegt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§4.1 und </a:t>
            </a:r>
            <a:r>
              <a:rPr dirty="0" err="1"/>
              <a:t>Abbildung</a:t>
            </a:r>
            <a:r>
              <a:rPr dirty="0"/>
              <a:t> 4.1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Nur die </a:t>
            </a:r>
            <a:r>
              <a:rPr dirty="0" err="1"/>
              <a:t>Architekturgrenzen</a:t>
            </a:r>
            <a:r>
              <a:rPr dirty="0"/>
              <a:t> </a:t>
            </a:r>
            <a:r>
              <a:rPr dirty="0" err="1"/>
              <a:t>erklären</a:t>
            </a:r>
            <a:r>
              <a:rPr dirty="0"/>
              <a:t>;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Dateinamen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Klassenlisten</a:t>
            </a:r>
            <a:r>
              <a:rPr dirty="0"/>
              <a:t> </a:t>
            </a:r>
            <a:r>
              <a:rPr dirty="0" err="1"/>
              <a:t>vorlesen</a:t>
            </a:r>
            <a:r>
              <a:rPr dirty="0"/>
              <a:t>.</a:t>
            </a:r>
          </a:p>
          <a:p>
            <a:r>
              <a:rPr dirty="0"/>
              <a:t>- Die Demo </a:t>
            </a:r>
            <a:r>
              <a:rPr dirty="0" err="1"/>
              <a:t>folgt</a:t>
            </a:r>
            <a:r>
              <a:rPr dirty="0"/>
              <a:t> </a:t>
            </a:r>
            <a:r>
              <a:rPr dirty="0" err="1"/>
              <a:t>später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</a:t>
            </a:r>
            <a:r>
              <a:rPr dirty="0" err="1"/>
              <a:t>diesem</a:t>
            </a:r>
            <a:r>
              <a:rPr dirty="0"/>
              <a:t> Fluss.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§4.1 und </a:t>
            </a:r>
            <a:r>
              <a:rPr dirty="0" err="1"/>
              <a:t>Kapitel</a:t>
            </a:r>
            <a:r>
              <a:rPr dirty="0"/>
              <a:t> 5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2:00</a:t>
            </a:r>
          </a:p>
          <a:p>
            <a:endParaRPr dirty="0"/>
          </a:p>
          <a:p>
            <a:r>
              <a:rPr dirty="0"/>
              <a:t>- An </a:t>
            </a:r>
            <a:r>
              <a:rPr dirty="0" err="1"/>
              <a:t>diesem</a:t>
            </a:r>
            <a:r>
              <a:rPr dirty="0"/>
              <a:t> </a:t>
            </a:r>
            <a:r>
              <a:rPr dirty="0" err="1"/>
              <a:t>kleinen</a:t>
            </a:r>
            <a:r>
              <a:rPr dirty="0"/>
              <a:t> </a:t>
            </a:r>
            <a:r>
              <a:rPr dirty="0" err="1"/>
              <a:t>Pfad</a:t>
            </a:r>
            <a:r>
              <a:rPr dirty="0"/>
              <a:t> das </a:t>
            </a:r>
            <a:r>
              <a:rPr dirty="0" err="1"/>
              <a:t>Konzept</a:t>
            </a:r>
            <a:r>
              <a:rPr dirty="0"/>
              <a:t> </a:t>
            </a:r>
            <a:r>
              <a:rPr dirty="0" err="1"/>
              <a:t>erklären</a:t>
            </a:r>
            <a:r>
              <a:rPr dirty="0"/>
              <a:t>, nicht am </a:t>
            </a:r>
            <a:r>
              <a:rPr dirty="0" err="1"/>
              <a:t>vollständigen</a:t>
            </a:r>
            <a:r>
              <a:rPr dirty="0"/>
              <a:t> </a:t>
            </a:r>
            <a:r>
              <a:rPr dirty="0" err="1"/>
              <a:t>Datenmodell</a:t>
            </a:r>
            <a:r>
              <a:rPr dirty="0"/>
              <a:t>.</a:t>
            </a:r>
          </a:p>
          <a:p>
            <a:r>
              <a:rPr dirty="0"/>
              <a:t>- Switches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VLANs </a:t>
            </a:r>
            <a:r>
              <a:rPr dirty="0" err="1"/>
              <a:t>tragen</a:t>
            </a:r>
            <a:r>
              <a:rPr dirty="0"/>
              <a:t>; Hosts </a:t>
            </a:r>
            <a:r>
              <a:rPr dirty="0" err="1"/>
              <a:t>genau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.</a:t>
            </a:r>
          </a:p>
          <a:p>
            <a:r>
              <a:rPr dirty="0"/>
              <a:t>- Die </a:t>
            </a:r>
            <a:r>
              <a:rPr dirty="0" err="1"/>
              <a:t>Nutzung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</a:t>
            </a:r>
            <a:r>
              <a:rPr dirty="0" err="1"/>
              <a:t>kürzesten</a:t>
            </a:r>
            <a:r>
              <a:rPr dirty="0"/>
              <a:t> </a:t>
            </a:r>
            <a:r>
              <a:rPr dirty="0" err="1"/>
              <a:t>Pfads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bewusste</a:t>
            </a:r>
            <a:r>
              <a:rPr dirty="0"/>
              <a:t> </a:t>
            </a:r>
            <a:r>
              <a:rPr dirty="0" err="1"/>
              <a:t>Modellvereinfachung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§4.2.2–4.3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2:30</a:t>
            </a:r>
          </a:p>
          <a:p>
            <a:endParaRPr dirty="0"/>
          </a:p>
          <a:p>
            <a:r>
              <a:rPr dirty="0"/>
              <a:t>- Die </a:t>
            </a:r>
            <a:r>
              <a:rPr dirty="0" err="1"/>
              <a:t>Formeln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so </a:t>
            </a:r>
            <a:r>
              <a:rPr dirty="0" err="1"/>
              <a:t>tief</a:t>
            </a:r>
            <a:r>
              <a:rPr dirty="0"/>
              <a:t> </a:t>
            </a:r>
            <a:r>
              <a:rPr dirty="0" err="1"/>
              <a:t>erklären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die </a:t>
            </a:r>
            <a:r>
              <a:rPr dirty="0" err="1"/>
              <a:t>Korrektheitsidee</a:t>
            </a:r>
            <a:r>
              <a:rPr dirty="0"/>
              <a:t> </a:t>
            </a:r>
            <a:r>
              <a:rPr dirty="0" err="1"/>
              <a:t>verständlich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Hervorheben</a:t>
            </a:r>
            <a:r>
              <a:rPr dirty="0"/>
              <a:t>: DENY </a:t>
            </a:r>
            <a:r>
              <a:rPr dirty="0" err="1"/>
              <a:t>bedeutet</a:t>
            </a:r>
            <a:r>
              <a:rPr dirty="0"/>
              <a:t> nicht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Endpunkt</a:t>
            </a:r>
            <a:r>
              <a:rPr dirty="0"/>
              <a:t>-VLANs,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durchgängiger</a:t>
            </a:r>
            <a:r>
              <a:rPr dirty="0"/>
              <a:t> </a:t>
            </a:r>
            <a:r>
              <a:rPr dirty="0" err="1"/>
              <a:t>gemeinsamer</a:t>
            </a:r>
            <a:r>
              <a:rPr dirty="0"/>
              <a:t> </a:t>
            </a:r>
            <a:r>
              <a:rPr dirty="0" err="1"/>
              <a:t>Pfad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2:00</a:t>
            </a:r>
          </a:p>
          <a:p>
            <a:endParaRPr dirty="0"/>
          </a:p>
          <a:p>
            <a:r>
              <a:rPr dirty="0"/>
              <a:t>- Die </a:t>
            </a:r>
            <a:r>
              <a:rPr dirty="0" err="1"/>
              <a:t>Verfahren</a:t>
            </a:r>
            <a:r>
              <a:rPr dirty="0"/>
              <a:t> nicht </a:t>
            </a:r>
            <a:r>
              <a:rPr dirty="0" err="1"/>
              <a:t>als</a:t>
            </a:r>
            <a:r>
              <a:rPr dirty="0"/>
              <a:t> Gut </a:t>
            </a:r>
            <a:r>
              <a:rPr dirty="0" err="1"/>
              <a:t>gegen</a:t>
            </a:r>
            <a:r>
              <a:rPr dirty="0"/>
              <a:t> Schlecht </a:t>
            </a:r>
            <a:r>
              <a:rPr dirty="0" err="1"/>
              <a:t>darstellen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Strategien</a:t>
            </a:r>
            <a:r>
              <a:rPr dirty="0"/>
              <a:t>.</a:t>
            </a:r>
          </a:p>
          <a:p>
            <a:r>
              <a:rPr dirty="0"/>
              <a:t>- Der Validator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entscheidend</a:t>
            </a:r>
            <a:r>
              <a:rPr dirty="0"/>
              <a:t>, </a:t>
            </a:r>
            <a:r>
              <a:rPr dirty="0" err="1"/>
              <a:t>damit</a:t>
            </a:r>
            <a:r>
              <a:rPr dirty="0"/>
              <a:t> </a:t>
            </a:r>
            <a:r>
              <a:rPr dirty="0" err="1"/>
              <a:t>Laufzeit</a:t>
            </a:r>
            <a:r>
              <a:rPr dirty="0"/>
              <a:t> nicht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Korrektheit</a:t>
            </a:r>
            <a:r>
              <a:rPr dirty="0"/>
              <a:t> </a:t>
            </a:r>
            <a:r>
              <a:rPr dirty="0" err="1"/>
              <a:t>verwechselt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§4.4 und §5.3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44033-4C6E-EDDF-8631-8CD9BD96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28615-BD40-2D52-C745-0EFB643C9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7DE4D-DB62-E783-18E2-368784658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3625D-1428-9595-E12E-7B68B15638A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5952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7F05-D614-7DEE-2638-6DCDD5BF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981DA-F970-CC4C-4FF0-039F6AA02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E3DB4-E4FD-6F0C-8A08-0A84090CC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6F612-61A3-B307-79F3-66FE825015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1610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B7DC9-5830-D581-F45F-8DE739834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75362-9195-3565-4841-455E3C98D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4A2E3-7227-BF2F-5C8F-AD59380C5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30B01-A4D8-E310-4834-BE788D36B2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4231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9571-D717-9085-B71E-206CC081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5399A-6296-3488-991C-C56BCD0CC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E7BA0-136E-4F63-6AE7-EE4F19533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53A0D-9C36-B5C0-2DC4-3FBC04FAF6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2866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66FE2-BFD8-B5B8-1236-8033CFBA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E29A2-AD0D-F018-E3A9-62799FCED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199ED-53FC-B483-92F6-943C65B85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72050-98C6-3B2C-4A08-51D656C9E8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3289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E1C3-9C1F-9DDA-60E5-1D8227C2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C39D0-7B89-6359-9BBB-29413EF14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E5AB8-0923-AA79-E6B8-AE77E4A3B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C7B24-63DC-1B6C-26A4-57DD9F91B95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4403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D6664-2F36-94AD-3D7C-D3E04096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AC183-41EC-2EA7-EB59-BAA48B984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5E70C-DA6A-EC23-6046-3BECEBC6B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6ABCB-89E7-3C27-4792-8A6E4E8A1D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8105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06122-12E0-73AB-AA7C-49F85F7A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4AA7A-205C-C0E0-0244-D81D15AC8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36515-303E-0259-2E47-2A2E83C7D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Zahl 72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zustande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sagen</a:t>
            </a:r>
            <a:r>
              <a:rPr dirty="0"/>
              <a:t>: Die Evaluation </a:t>
            </a:r>
            <a:r>
              <a:rPr dirty="0" err="1"/>
              <a:t>vergleicht</a:t>
            </a:r>
            <a:r>
              <a:rPr dirty="0"/>
              <a:t> SAT-</a:t>
            </a:r>
            <a:r>
              <a:rPr dirty="0" err="1"/>
              <a:t>Szenarien</a:t>
            </a:r>
            <a:r>
              <a:rPr dirty="0"/>
              <a:t>; UNSAT </a:t>
            </a:r>
            <a:r>
              <a:rPr dirty="0" err="1"/>
              <a:t>wurde</a:t>
            </a:r>
            <a:r>
              <a:rPr dirty="0"/>
              <a:t> nicht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evaluiert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§6.1–6.4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65AFD-B913-8E1D-12EE-3A206BF9EB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4289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2:00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Zuerst</a:t>
            </a:r>
            <a:r>
              <a:rPr dirty="0"/>
              <a:t> den starken </a:t>
            </a:r>
            <a:r>
              <a:rPr dirty="0" err="1"/>
              <a:t>Geschwindigkeitsunterschied</a:t>
            </a:r>
            <a:r>
              <a:rPr dirty="0"/>
              <a:t> </a:t>
            </a:r>
            <a:r>
              <a:rPr dirty="0" err="1"/>
              <a:t>anerkennen</a:t>
            </a:r>
            <a:r>
              <a:rPr dirty="0"/>
              <a:t>.</a:t>
            </a:r>
          </a:p>
          <a:p>
            <a:r>
              <a:rPr dirty="0"/>
              <a:t>- Dann die Brücke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nächsten</a:t>
            </a:r>
            <a:r>
              <a:rPr dirty="0"/>
              <a:t> Folie: </a:t>
            </a:r>
            <a:r>
              <a:rPr dirty="0" err="1"/>
              <a:t>Geschwindigkeit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wertvoll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das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gültig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</a:t>
            </a:r>
            <a:r>
              <a:rPr dirty="0" err="1"/>
              <a:t>Abbildung</a:t>
            </a:r>
            <a:r>
              <a:rPr dirty="0"/>
              <a:t> 6.4 und §6.4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2:00</a:t>
            </a:r>
          </a:p>
          <a:p>
            <a:endParaRPr dirty="0"/>
          </a:p>
          <a:p>
            <a:r>
              <a:rPr dirty="0"/>
              <a:t>- Die </a:t>
            </a:r>
            <a:r>
              <a:rPr dirty="0" err="1"/>
              <a:t>entscheidende</a:t>
            </a:r>
            <a:r>
              <a:rPr dirty="0"/>
              <a:t> </a:t>
            </a:r>
            <a:r>
              <a:rPr dirty="0" err="1"/>
              <a:t>Aussage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33/72 </a:t>
            </a:r>
            <a:r>
              <a:rPr dirty="0" err="1"/>
              <a:t>gegenüber</a:t>
            </a:r>
            <a:r>
              <a:rPr dirty="0"/>
              <a:t> 72/72.</a:t>
            </a:r>
          </a:p>
          <a:p>
            <a:r>
              <a:rPr dirty="0"/>
              <a:t>- Nicht </a:t>
            </a:r>
            <a:r>
              <a:rPr dirty="0" err="1"/>
              <a:t>behaupten</a:t>
            </a:r>
            <a:r>
              <a:rPr dirty="0"/>
              <a:t>, Z3 sei immer optimal: Es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gültig</a:t>
            </a:r>
            <a:r>
              <a:rPr dirty="0"/>
              <a:t>, </a:t>
            </a:r>
            <a:r>
              <a:rPr dirty="0" err="1"/>
              <a:t>minimiert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aktuell</a:t>
            </a:r>
            <a:r>
              <a:rPr dirty="0"/>
              <a:t> die VLAN-</a:t>
            </a:r>
            <a:r>
              <a:rPr dirty="0" err="1"/>
              <a:t>Anzahl</a:t>
            </a:r>
            <a:r>
              <a:rPr dirty="0"/>
              <a:t> nicht.</a:t>
            </a:r>
          </a:p>
          <a:p>
            <a:r>
              <a:rPr dirty="0"/>
              <a:t>- Die Dichte der </a:t>
            </a:r>
            <a:r>
              <a:rPr dirty="0" err="1"/>
              <a:t>Regeln</a:t>
            </a:r>
            <a:r>
              <a:rPr dirty="0"/>
              <a:t> </a:t>
            </a:r>
            <a:r>
              <a:rPr dirty="0" err="1"/>
              <a:t>beeinflusst</a:t>
            </a:r>
            <a:r>
              <a:rPr dirty="0"/>
              <a:t> die </a:t>
            </a:r>
            <a:r>
              <a:rPr dirty="0" err="1"/>
              <a:t>Heuristik</a:t>
            </a:r>
            <a:r>
              <a:rPr dirty="0"/>
              <a:t> </a:t>
            </a:r>
            <a:r>
              <a:rPr dirty="0" err="1"/>
              <a:t>stärker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die </a:t>
            </a:r>
            <a:r>
              <a:rPr dirty="0" err="1"/>
              <a:t>reine</a:t>
            </a:r>
            <a:r>
              <a:rPr dirty="0"/>
              <a:t> </a:t>
            </a:r>
            <a:r>
              <a:rPr dirty="0" err="1"/>
              <a:t>Netzwerkgrösse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</a:t>
            </a:r>
            <a:r>
              <a:rPr dirty="0" err="1"/>
              <a:t>Abbildung</a:t>
            </a:r>
            <a:r>
              <a:rPr dirty="0"/>
              <a:t> 6.7 und §6.5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hybride</a:t>
            </a:r>
            <a:r>
              <a:rPr dirty="0"/>
              <a:t> </a:t>
            </a:r>
            <a:r>
              <a:rPr dirty="0" err="1"/>
              <a:t>Strategie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den </a:t>
            </a:r>
            <a:r>
              <a:rPr dirty="0" err="1"/>
              <a:t>Ergebnissen</a:t>
            </a:r>
            <a:r>
              <a:rPr dirty="0"/>
              <a:t> </a:t>
            </a:r>
            <a:r>
              <a:rPr dirty="0" err="1"/>
              <a:t>abgeleitete</a:t>
            </a:r>
            <a:r>
              <a:rPr dirty="0"/>
              <a:t> </a:t>
            </a:r>
            <a:r>
              <a:rPr dirty="0" err="1"/>
              <a:t>Empfehlung</a:t>
            </a:r>
            <a:r>
              <a:rPr dirty="0"/>
              <a:t>, nicht Teil der </a:t>
            </a:r>
            <a:r>
              <a:rPr dirty="0" err="1"/>
              <a:t>evaluierten</a:t>
            </a:r>
            <a:r>
              <a:rPr dirty="0"/>
              <a:t> </a:t>
            </a:r>
            <a:r>
              <a:rPr dirty="0" err="1"/>
              <a:t>Implementierung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Wichtig</a:t>
            </a:r>
            <a:r>
              <a:rPr dirty="0"/>
              <a:t>: </a:t>
            </a:r>
            <a:r>
              <a:rPr dirty="0" err="1"/>
              <a:t>Validierung</a:t>
            </a:r>
            <a:r>
              <a:rPr dirty="0"/>
              <a:t>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zwingend</a:t>
            </a:r>
            <a:r>
              <a:rPr dirty="0"/>
              <a:t>, bevor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Heuristik-Lösung</a:t>
            </a:r>
            <a:r>
              <a:rPr dirty="0"/>
              <a:t> </a:t>
            </a:r>
            <a:r>
              <a:rPr dirty="0" err="1"/>
              <a:t>genutzt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§6.6 und §8.3</a:t>
            </a:r>
          </a:p>
          <a:p>
            <a:r>
              <a:rPr dirty="0"/>
              <a:t>[/Sources]</a:t>
            </a:r>
            <a:endParaRPr lang="de-CH" dirty="0"/>
          </a:p>
          <a:p>
            <a:endParaRPr lang="en-C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bleibt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die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Geschwindigkeit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einfacher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Fälle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erhalten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ohne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bei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komplexen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Fällen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auf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formale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Zuverlässigkeit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zu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verzichten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Grenzen</a:t>
            </a:r>
            <a:r>
              <a:rPr dirty="0"/>
              <a:t> </a:t>
            </a:r>
            <a:r>
              <a:rPr dirty="0" err="1"/>
              <a:t>offen</a:t>
            </a:r>
            <a:r>
              <a:rPr dirty="0"/>
              <a:t> </a:t>
            </a:r>
            <a:r>
              <a:rPr dirty="0" err="1"/>
              <a:t>nennen</a:t>
            </a:r>
            <a:r>
              <a:rPr dirty="0"/>
              <a:t>; das </a:t>
            </a:r>
            <a:r>
              <a:rPr dirty="0" err="1"/>
              <a:t>stärkt</a:t>
            </a:r>
            <a:r>
              <a:rPr dirty="0"/>
              <a:t> die </a:t>
            </a:r>
            <a:r>
              <a:rPr dirty="0" err="1"/>
              <a:t>Aussagekraft</a:t>
            </a:r>
            <a:r>
              <a:rPr dirty="0"/>
              <a:t> der </a:t>
            </a:r>
            <a:r>
              <a:rPr dirty="0" err="1"/>
              <a:t>eigentlichen</a:t>
            </a:r>
            <a:r>
              <a:rPr dirty="0"/>
              <a:t> </a:t>
            </a:r>
            <a:r>
              <a:rPr dirty="0" err="1"/>
              <a:t>Ergebnisse</a:t>
            </a:r>
            <a:r>
              <a:rPr dirty="0"/>
              <a:t>.</a:t>
            </a:r>
          </a:p>
          <a:p>
            <a:r>
              <a:rPr dirty="0"/>
              <a:t>- Bei Gruppen </a:t>
            </a:r>
            <a:r>
              <a:rPr dirty="0" err="1"/>
              <a:t>betonen</a:t>
            </a:r>
            <a:r>
              <a:rPr dirty="0"/>
              <a:t>: Das </a:t>
            </a:r>
            <a:r>
              <a:rPr dirty="0" err="1"/>
              <a:t>Konzept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falsch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die </a:t>
            </a:r>
            <a:r>
              <a:rPr dirty="0" err="1"/>
              <a:t>Implementierung</a:t>
            </a:r>
            <a:r>
              <a:rPr dirty="0"/>
              <a:t> </a:t>
            </a:r>
            <a:r>
              <a:rPr dirty="0" err="1"/>
              <a:t>würde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Constraint-Explosion die </a:t>
            </a:r>
            <a:r>
              <a:rPr dirty="0" err="1"/>
              <a:t>Messung</a:t>
            </a:r>
            <a:r>
              <a:rPr dirty="0"/>
              <a:t> </a:t>
            </a:r>
            <a:r>
              <a:rPr dirty="0" err="1"/>
              <a:t>dominieren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§4.5 und §7.2–7.3</a:t>
            </a:r>
          </a:p>
          <a:p>
            <a:r>
              <a:rPr dirty="0"/>
              <a:t>[/Sources]</a:t>
            </a:r>
            <a:endParaRPr lang="de-CH" dirty="0"/>
          </a:p>
          <a:p>
            <a:endParaRPr lang="en-CH" dirty="0"/>
          </a:p>
          <a:p>
            <a:endParaRPr lang="en-C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Die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Gruppenidee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war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fachlich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sinnvoll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ihre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konkrete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Expansion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jedoch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nicht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effizient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genug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für </a:t>
            </a:r>
            <a:r>
              <a:rPr lang="en-GB" sz="12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eine</a:t>
            </a:r>
            <a:r>
              <a:rPr lang="en-GB"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faire Evaluation.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1:30</a:t>
            </a:r>
          </a:p>
          <a:p>
            <a:endParaRPr dirty="0"/>
          </a:p>
          <a:p>
            <a:r>
              <a:rPr dirty="0"/>
              <a:t>- Die </a:t>
            </a:r>
            <a:r>
              <a:rPr dirty="0" err="1"/>
              <a:t>Forschungsfrage</a:t>
            </a:r>
            <a:r>
              <a:rPr dirty="0"/>
              <a:t> </a:t>
            </a:r>
            <a:r>
              <a:rPr dirty="0" err="1"/>
              <a:t>wortnah</a:t>
            </a:r>
            <a:r>
              <a:rPr dirty="0"/>
              <a:t> </a:t>
            </a:r>
            <a:r>
              <a:rPr dirty="0" err="1"/>
              <a:t>beantworten</a:t>
            </a:r>
            <a:r>
              <a:rPr dirty="0"/>
              <a:t>.</a:t>
            </a:r>
          </a:p>
          <a:p>
            <a:r>
              <a:rPr dirty="0"/>
              <a:t>- Die </a:t>
            </a:r>
            <a:r>
              <a:rPr dirty="0" err="1"/>
              <a:t>Bedingung</a:t>
            </a:r>
            <a:r>
              <a:rPr dirty="0"/>
              <a:t> der </a:t>
            </a:r>
            <a:r>
              <a:rPr dirty="0" err="1"/>
              <a:t>Modellvollständigkeit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entscheidend</a:t>
            </a:r>
            <a:r>
              <a:rPr dirty="0"/>
              <a:t> und </a:t>
            </a:r>
            <a:r>
              <a:rPr dirty="0" err="1"/>
              <a:t>verhindert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starke</a:t>
            </a:r>
            <a:r>
              <a:rPr dirty="0"/>
              <a:t> </a:t>
            </a:r>
            <a:r>
              <a:rPr dirty="0" err="1"/>
              <a:t>Verallgemeinerung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§8.1–8.2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Zeit: 1:00</a:t>
            </a:r>
          </a:p>
          <a:p>
            <a:endParaRPr dirty="0"/>
          </a:p>
          <a:p>
            <a:r>
              <a:rPr dirty="0"/>
              <a:t>- Die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Aussagen</a:t>
            </a:r>
            <a:r>
              <a:rPr dirty="0"/>
              <a:t>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wiederholen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in die </a:t>
            </a:r>
            <a:r>
              <a:rPr dirty="0" err="1"/>
              <a:t>Fragerunde</a:t>
            </a:r>
            <a:r>
              <a:rPr dirty="0"/>
              <a:t> </a:t>
            </a:r>
            <a:r>
              <a:rPr dirty="0" err="1"/>
              <a:t>überleiten</a:t>
            </a:r>
            <a:r>
              <a:rPr dirty="0"/>
              <a:t>.</a:t>
            </a:r>
          </a:p>
          <a:p>
            <a:r>
              <a:rPr dirty="0"/>
              <a:t>- Nicht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allgemeinen</a:t>
            </a:r>
            <a:r>
              <a:rPr dirty="0"/>
              <a:t> Dank </a:t>
            </a:r>
            <a:r>
              <a:rPr dirty="0" err="1"/>
              <a:t>enden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</a:t>
            </a:r>
            <a:r>
              <a:rPr dirty="0" err="1"/>
              <a:t>belastbaren</a:t>
            </a:r>
            <a:r>
              <a:rPr dirty="0"/>
              <a:t> </a:t>
            </a:r>
            <a:r>
              <a:rPr dirty="0" err="1"/>
              <a:t>Kernaussage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FHNW_Bachelor_Thesis</a:t>
            </a:r>
            <a:r>
              <a:rPr dirty="0"/>
              <a:t>(3).pdf, §8.1–8.3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91CA-1986-F1D3-0BA6-AF0305ED2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A81DB-A289-B70C-56C0-E6E3853C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2D0AB-CC9A-591C-565A-A5F46AEC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064F5-9AFD-3A61-88AC-DF2744B2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66E25-021D-0893-97DD-D6F3B457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584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4E7F-267F-B588-E8DE-E06E0313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22A1-86EB-636C-D1CF-9688E3A26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0E263-F587-86EA-3D10-573BFA39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C4CC5-5E4F-8024-E51B-58D7A98A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B057D-AE7A-3E80-EC61-033152E9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9720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E96D-3F73-4390-4947-215B2AE36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89C70-037C-9ABB-E910-76E94C63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98476-C119-341B-C19A-C759EE53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7A792-CA52-C827-8EEA-6441DE8C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D9CE6-9830-5690-DABF-68B7C241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295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E72E-8A7A-46F7-183F-9BCA4D41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E64D-334F-0BB1-3CC4-587F633F6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40A91-B1B2-9843-5439-7A300D54E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DCBA2-CD68-B32F-E578-2EA25694F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A616-2A42-25E0-FC3B-C1DB4AAC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091E3-C02C-827C-7435-42796064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544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1751-0219-A2FE-01DA-C2644346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6D85C-02C1-6346-CFF2-DEDEC34E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8646E-3F8D-F7D4-7615-1FBE87D10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012C9-F804-BA51-2785-E17CEF9F9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8C308-8EC1-B8F4-14F5-83C12E133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3B92A-571A-ADB8-4D48-100F85BB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E0D79D-98E1-E8EA-FEFD-FA84BAE9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F4240-F069-6B9B-7C7C-8B69DC133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072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A98E-024B-CD9C-26B0-6C3C6802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72E61-953C-B7F3-EE86-B28352FC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2951E-3BF3-29A5-323B-DDF0099C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B1FCA-FEBA-2EF1-2767-04CF54EB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5924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CA6D8-A118-BBD9-449D-599C53B7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18BF7-205F-BFF5-E37F-1B8A5EF9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39BAB-AAD4-9552-BB07-33FAAB0B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1127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377A-8819-DAA7-9F24-A3678CAC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4FA5-50B9-840A-0C88-FD356814B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5E3F6-6F55-D137-DA51-5627513B7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779C7-459F-6FDC-310F-0584B600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A6770-39FA-EAA6-8FF4-893C405E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8F199-0448-E686-7809-8D74B07A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024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96B2-3C94-F1EE-EF0E-DF17AF64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1E19D-3945-47B9-D91A-57A35C590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0D3E7-E85A-77B5-1B0C-F528DF458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E61FD-5257-723C-C0E3-F6532C1D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DE4F2-E4C9-0BC8-5C41-437D503C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A5963-1180-F2D2-657E-32FB8BDA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31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736F-215E-F13E-AF89-CB5DEEEB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9DBA1-C9C2-045C-3D76-380A9F5CB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906EB-040B-35EC-DB40-0D736F0C1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6B34D-066E-8561-DF6B-778397EA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5AA3B-F465-C0B8-7EE1-8794CF8F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168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49CA8-C8B6-C046-53F5-E70F1242C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B5B01-0138-6A5C-F5DD-EA8B5475A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3936C-4978-1359-F125-D2B6D9C1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8B37C-827D-CD43-27F2-AE35FB3F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7A12E-7CA9-55E9-DDBB-24B7A84A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53469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15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49294-C3F2-6F92-FA51-E34EC848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E0D05-0118-E569-CCB4-4C3C107D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B0C8-D413-B441-2DF2-08D558359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9D21D-9F5C-1444-B248-1887AD0277CF}" type="datetimeFigureOut">
              <a:rPr lang="de-CH" smtClean="0"/>
              <a:t>31.08.26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6278-3FFC-35F3-CA8A-01127C7A1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B8B0-599F-E512-3DB8-B01FAD2FF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A99F4-EEF9-4743-B3ED-8F9646297F0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82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-0-0">
            <a:extLst>
              <a:ext uri="{FF2B5EF4-FFF2-40B4-BE49-F238E27FC236}">
                <a16:creationId xmlns:a16="http://schemas.microsoft.com/office/drawing/2014/main" id="{00B5EBE1-3975-4EFA-8715-066F1EC3DF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8-54">
            <a:extLst>
              <a:ext uri="{FF2B5EF4-FFF2-40B4-BE49-F238E27FC236}">
                <a16:creationId xmlns:a16="http://schemas.microsoft.com/office/drawing/2014/main" id="{D077A91E-5B86-4E78-922A-35581FF2D33F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FHNW · Bachelor Thesis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D4E0D160-9905-43CA-A395-AAF2CE72CA56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5715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Automatisierte</a:t>
            </a:r>
          </a:p>
          <a:p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Microsegmentierung</a:t>
            </a:r>
          </a:p>
          <a:p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mit Digital Twin</a:t>
            </a:r>
          </a:p>
        </p:txBody>
      </p:sp>
      <p:sp>
        <p:nvSpPr>
          <p:cNvPr id="4" name="rect-68-393">
            <a:extLst>
              <a:ext uri="{FF2B5EF4-FFF2-40B4-BE49-F238E27FC236}">
                <a16:creationId xmlns:a16="http://schemas.microsoft.com/office/drawing/2014/main" id="{7846E564-CCC2-43B2-B42B-26FA75A60E9E}"/>
              </a:ext>
            </a:extLst>
          </p:cNvPr>
          <p:cNvSpPr>
            <a:spLocks noGrp="1"/>
          </p:cNvSpPr>
          <p:nvPr/>
        </p:nvSpPr>
        <p:spPr>
          <a:xfrm>
            <a:off x="647700" y="3743325"/>
            <a:ext cx="4095750" cy="1238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-68-440">
            <a:extLst>
              <a:ext uri="{FF2B5EF4-FFF2-40B4-BE49-F238E27FC236}">
                <a16:creationId xmlns:a16="http://schemas.microsoft.com/office/drawing/2014/main" id="{7CA5B168-859B-4259-8EC3-800F16974813}"/>
              </a:ext>
            </a:extLst>
          </p:cNvPr>
          <p:cNvSpPr>
            <a:spLocks noGrp="1"/>
          </p:cNvSpPr>
          <p:nvPr/>
        </p:nvSpPr>
        <p:spPr>
          <a:xfrm>
            <a:off x="647700" y="4191000"/>
            <a:ext cx="5143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Ein </a:t>
            </a:r>
            <a:r>
              <a:rPr sz="18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graphbasierter</a:t>
            </a:r>
            <a:r>
              <a:rPr sz="18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Ansatz </a:t>
            </a:r>
            <a:r>
              <a:rPr sz="18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übersetzt</a:t>
            </a:r>
            <a:r>
              <a:rPr sz="18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Kommunikationsanforderungen</a:t>
            </a:r>
            <a:r>
              <a:rPr sz="18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in </a:t>
            </a:r>
            <a:r>
              <a:rPr sz="18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eine</a:t>
            </a:r>
            <a:r>
              <a:rPr sz="18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VLAN-</a:t>
            </a:r>
            <a:r>
              <a:rPr sz="18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basierte</a:t>
            </a:r>
            <a:r>
              <a:rPr sz="18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Segmentierung</a:t>
            </a:r>
            <a:r>
              <a:rPr sz="18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text-68-602">
            <a:extLst>
              <a:ext uri="{FF2B5EF4-FFF2-40B4-BE49-F238E27FC236}">
                <a16:creationId xmlns:a16="http://schemas.microsoft.com/office/drawing/2014/main" id="{4A01F799-8A92-498D-8B2C-3A9E2B4837C8}"/>
              </a:ext>
            </a:extLst>
          </p:cNvPr>
          <p:cNvSpPr>
            <a:spLocks noGrp="1"/>
          </p:cNvSpPr>
          <p:nvPr/>
        </p:nvSpPr>
        <p:spPr>
          <a:xfrm>
            <a:off x="647700" y="5734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Martin Vogt</a:t>
            </a:r>
          </a:p>
        </p:txBody>
      </p:sp>
      <p:sp>
        <p:nvSpPr>
          <p:cNvPr id="7" name="text-68-638">
            <a:extLst>
              <a:ext uri="{FF2B5EF4-FFF2-40B4-BE49-F238E27FC236}">
                <a16:creationId xmlns:a16="http://schemas.microsoft.com/office/drawing/2014/main" id="{EBC81665-A4EE-47AB-B335-27BBC1244DB6}"/>
              </a:ext>
            </a:extLst>
          </p:cNvPr>
          <p:cNvSpPr>
            <a:spLocks noGrp="1"/>
          </p:cNvSpPr>
          <p:nvPr/>
        </p:nvSpPr>
        <p:spPr>
          <a:xfrm>
            <a:off x="647700" y="60769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Christopher Scherb · Luc Heitz · September 2026</a:t>
            </a:r>
          </a:p>
        </p:txBody>
      </p:sp>
      <p:sp>
        <p:nvSpPr>
          <p:cNvPr id="8" name="rect-700-0">
            <a:extLst>
              <a:ext uri="{FF2B5EF4-FFF2-40B4-BE49-F238E27FC236}">
                <a16:creationId xmlns:a16="http://schemas.microsoft.com/office/drawing/2014/main" id="{8F0EFAF5-F6DA-4DD6-AE2A-B5643B5297A3}"/>
              </a:ext>
            </a:extLst>
          </p:cNvPr>
          <p:cNvSpPr>
            <a:spLocks noGrp="1"/>
          </p:cNvSpPr>
          <p:nvPr/>
        </p:nvSpPr>
        <p:spPr>
          <a:xfrm>
            <a:off x="6667500" y="0"/>
            <a:ext cx="5524500" cy="685800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D1140A-ACEE-87D0-DC8D-15AD993A70C8}"/>
              </a:ext>
            </a:extLst>
          </p:cNvPr>
          <p:cNvGrpSpPr/>
          <p:nvPr/>
        </p:nvGrpSpPr>
        <p:grpSpPr>
          <a:xfrm>
            <a:off x="6473297" y="-57150"/>
            <a:ext cx="5718703" cy="6915150"/>
            <a:chOff x="15614687" y="13496230"/>
            <a:chExt cx="14799054" cy="1789525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7502558-5EC7-BE35-21C1-D481D7324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87" t="11331" r="28930"/>
            <a:stretch>
              <a:fillRect/>
            </a:stretch>
          </p:blipFill>
          <p:spPr>
            <a:xfrm>
              <a:off x="17771167" y="14762785"/>
              <a:ext cx="12642574" cy="1586855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E15C1C8-4B3D-711A-2F61-48726FEF5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6269"/>
            <a:stretch>
              <a:fillRect/>
            </a:stretch>
          </p:blipFill>
          <p:spPr>
            <a:xfrm>
              <a:off x="15614687" y="13496230"/>
              <a:ext cx="14799054" cy="17895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959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3C0B-35C4-CBF0-2709-94D88932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-60-42">
            <a:extLst>
              <a:ext uri="{FF2B5EF4-FFF2-40B4-BE49-F238E27FC236}">
                <a16:creationId xmlns:a16="http://schemas.microsoft.com/office/drawing/2014/main" id="{0D1EC033-BCB6-3300-ACEF-EA1D10F1EFE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2F3BB965-8111-1165-EAB4-65A2B5490FC9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D65765A7-A5C0-C2D7-97ED-4F6D531A95C5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de-CH"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Ablauf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F30BB439-DC8C-4488-BAE8-36BE933AB22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85A17-EE8B-C88E-DAC0-54B8B579B574}"/>
              </a:ext>
            </a:extLst>
          </p:cNvPr>
          <p:cNvSpPr txBox="1"/>
          <p:nvPr/>
        </p:nvSpPr>
        <p:spPr>
          <a:xfrm>
            <a:off x="706056" y="1701478"/>
            <a:ext cx="565789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Intro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Motivation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Forschungsfrage und Zielsetzung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Lösungsansatz und Systemarchitektur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Digital Twin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Synthese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Experimente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Resultate und Interpretation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Antwort auf die Forschungsfrage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de-CH" sz="2400" dirty="0"/>
              <a:t>Schlussfolgerungen</a:t>
            </a:r>
          </a:p>
        </p:txBody>
      </p:sp>
    </p:spTree>
    <p:extLst>
      <p:ext uri="{BB962C8B-B14F-4D97-AF65-F5344CB8AC3E}">
        <p14:creationId xmlns:p14="http://schemas.microsoft.com/office/powerpoint/2010/main" val="257099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-60-42">
            <a:extLst>
              <a:ext uri="{FF2B5EF4-FFF2-40B4-BE49-F238E27FC236}">
                <a16:creationId xmlns:a16="http://schemas.microsoft.com/office/drawing/2014/main" id="{56B8E8F6-F416-490A-90D6-4C75633AA28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584017C3-7809-48FB-9B76-50E62A797679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BFB9762D-2084-46E6-9242-41F40E14C401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Manuelle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Segmentierung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skaliert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nicht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mit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der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Netzkomplexität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411072CE-59D0-4F67-86BE-D40790179E20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60-175">
            <a:extLst>
              <a:ext uri="{FF2B5EF4-FFF2-40B4-BE49-F238E27FC236}">
                <a16:creationId xmlns:a16="http://schemas.microsoft.com/office/drawing/2014/main" id="{3EAC9E6E-69B2-404F-A31A-506125E2DDAC}"/>
              </a:ext>
            </a:extLst>
          </p:cNvPr>
          <p:cNvSpPr>
            <a:spLocks noGrp="1"/>
          </p:cNvSpPr>
          <p:nvPr/>
        </p:nvSpPr>
        <p:spPr>
          <a:xfrm>
            <a:off x="571498" y="2305170"/>
            <a:ext cx="11048999" cy="13524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Nur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notwendige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Kommunikation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zulassen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klingt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einfach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 </a:t>
            </a:r>
            <a:endParaRPr lang="de-CH" sz="195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realen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Netzen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treffen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jedoch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dynamische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Systeme,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unvollständige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Abhängigkeiten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und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widersprüchliche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Anforderungen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aufeinander</a:t>
            </a:r>
            <a:r>
              <a:rPr sz="19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-60-330">
            <a:extLst>
              <a:ext uri="{FF2B5EF4-FFF2-40B4-BE49-F238E27FC236}">
                <a16:creationId xmlns:a16="http://schemas.microsoft.com/office/drawing/2014/main" id="{FE69C43F-2659-4AD1-AB44-DA3B10297FD3}"/>
              </a:ext>
            </a:extLst>
          </p:cNvPr>
          <p:cNvSpPr>
            <a:spLocks noGrp="1"/>
          </p:cNvSpPr>
          <p:nvPr/>
        </p:nvSpPr>
        <p:spPr>
          <a:xfrm>
            <a:off x="571498" y="3827584"/>
            <a:ext cx="11048999" cy="1725491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-90-360">
            <a:extLst>
              <a:ext uri="{FF2B5EF4-FFF2-40B4-BE49-F238E27FC236}">
                <a16:creationId xmlns:a16="http://schemas.microsoft.com/office/drawing/2014/main" id="{B63BB117-32E9-46FB-9B59-1588AABD50CF}"/>
              </a:ext>
            </a:extLst>
          </p:cNvPr>
          <p:cNvSpPr>
            <a:spLocks noGrp="1"/>
          </p:cNvSpPr>
          <p:nvPr/>
        </p:nvSpPr>
        <p:spPr>
          <a:xfrm>
            <a:off x="857249" y="4075964"/>
            <a:ext cx="359751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Das </a:t>
            </a: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praktische</a:t>
            </a:r>
            <a:r>
              <a:rPr sz="1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Spannun</a:t>
            </a:r>
            <a:r>
              <a:rPr lang="en-GB" sz="1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sfeld</a:t>
            </a:r>
            <a:endParaRPr sz="18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-90-430">
            <a:extLst>
              <a:ext uri="{FF2B5EF4-FFF2-40B4-BE49-F238E27FC236}">
                <a16:creationId xmlns:a16="http://schemas.microsoft.com/office/drawing/2014/main" id="{46F0225E-852C-437A-A150-E0B91105EFA4}"/>
              </a:ext>
            </a:extLst>
          </p:cNvPr>
          <p:cNvSpPr>
            <a:spLocks noGrp="1"/>
          </p:cNvSpPr>
          <p:nvPr/>
        </p:nvSpPr>
        <p:spPr>
          <a:xfrm>
            <a:off x="857248" y="4618890"/>
            <a:ext cx="438150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27833A"/>
                </a:solidFill>
                <a:latin typeface="Arial"/>
                <a:ea typeface="Arial"/>
                <a:cs typeface="Arial"/>
              </a:defRPr>
            </a:pPr>
            <a:r>
              <a:rPr sz="2025" b="1" i="0" dirty="0" err="1">
                <a:solidFill>
                  <a:srgbClr val="27833A"/>
                </a:solidFill>
                <a:latin typeface="Arial"/>
                <a:ea typeface="Arial"/>
                <a:cs typeface="Arial"/>
              </a:rPr>
              <a:t>Funktionalität</a:t>
            </a:r>
            <a:r>
              <a:rPr sz="2025" b="1" i="0" dirty="0">
                <a:solidFill>
                  <a:srgbClr val="27833A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27833A"/>
                </a:solidFill>
                <a:latin typeface="Arial"/>
                <a:ea typeface="Arial"/>
                <a:cs typeface="Arial"/>
              </a:rPr>
              <a:t>erhalten</a:t>
            </a:r>
            <a:endParaRPr sz="2025" b="1" i="0" dirty="0">
              <a:solidFill>
                <a:srgbClr val="2783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-365-421">
            <a:extLst>
              <a:ext uri="{FF2B5EF4-FFF2-40B4-BE49-F238E27FC236}">
                <a16:creationId xmlns:a16="http://schemas.microsoft.com/office/drawing/2014/main" id="{69781838-7E9E-49D9-A9F3-1F9A547FAB77}"/>
              </a:ext>
            </a:extLst>
          </p:cNvPr>
          <p:cNvSpPr>
            <a:spLocks noGrp="1"/>
          </p:cNvSpPr>
          <p:nvPr/>
        </p:nvSpPr>
        <p:spPr>
          <a:xfrm>
            <a:off x="5810249" y="461889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0" name="text-445-430">
            <a:extLst>
              <a:ext uri="{FF2B5EF4-FFF2-40B4-BE49-F238E27FC236}">
                <a16:creationId xmlns:a16="http://schemas.microsoft.com/office/drawing/2014/main" id="{E9AAB098-0587-4652-AA1A-D3DFF12F9904}"/>
              </a:ext>
            </a:extLst>
          </p:cNvPr>
          <p:cNvSpPr>
            <a:spLocks noGrp="1"/>
          </p:cNvSpPr>
          <p:nvPr/>
        </p:nvSpPr>
        <p:spPr>
          <a:xfrm>
            <a:off x="7442521" y="4618890"/>
            <a:ext cx="3796977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2025" b="1" i="0">
                <a:solidFill>
                  <a:srgbClr val="DF305B"/>
                </a:solidFill>
                <a:latin typeface="Arial"/>
                <a:ea typeface="Arial"/>
                <a:cs typeface="Arial"/>
              </a:defRPr>
            </a:pPr>
            <a:r>
              <a:rPr sz="2025" b="1" i="0" dirty="0" err="1">
                <a:solidFill>
                  <a:srgbClr val="DF305B"/>
                </a:solidFill>
                <a:latin typeface="Arial"/>
                <a:ea typeface="Arial"/>
                <a:cs typeface="Arial"/>
              </a:rPr>
              <a:t>Angriffsfläche</a:t>
            </a:r>
            <a:r>
              <a:rPr sz="2025" b="1" i="0" dirty="0">
                <a:solidFill>
                  <a:srgbClr val="DF305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DF305B"/>
                </a:solidFill>
                <a:latin typeface="Arial"/>
                <a:ea typeface="Arial"/>
                <a:cs typeface="Arial"/>
              </a:rPr>
              <a:t>reduzieren</a:t>
            </a:r>
            <a:endParaRPr sz="2025" b="1" i="0" dirty="0">
              <a:solidFill>
                <a:srgbClr val="DF305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956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-60-42">
            <a:extLst>
              <a:ext uri="{FF2B5EF4-FFF2-40B4-BE49-F238E27FC236}">
                <a16:creationId xmlns:a16="http://schemas.microsoft.com/office/drawing/2014/main" id="{3509BCE4-B0D3-4D27-AD9B-1F41D8D9D82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11B6D303-664F-405E-80B0-31DC50B9D603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FORSCHUNGSFRAGE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0B1CFB52-09FA-4B0B-BBCE-F35A439D5B34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Die Arbeit prüft eine klar abgegrenzte Forschungsfrage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F84309E6-7888-42FF-A401-6E783611C2A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-60-170">
            <a:extLst>
              <a:ext uri="{FF2B5EF4-FFF2-40B4-BE49-F238E27FC236}">
                <a16:creationId xmlns:a16="http://schemas.microsoft.com/office/drawing/2014/main" id="{99ABEF1E-6EEC-4845-8183-19286ADAEE1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459616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Wie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kann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Microsegmentierung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durch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Digital-Twin-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Modellierung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und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automatisierte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ctr"/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Regel-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Synthese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effektiv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und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konsistent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umgesetzt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0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werden</a:t>
            </a:r>
            <a:r>
              <a:rPr lang="en-GB" sz="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6" name="text-96-205">
            <a:extLst>
              <a:ext uri="{FF2B5EF4-FFF2-40B4-BE49-F238E27FC236}">
                <a16:creationId xmlns:a16="http://schemas.microsoft.com/office/drawing/2014/main" id="{3D2DD484-F3DA-47F7-A287-7B1EC69704FD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10363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22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-60-372">
            <a:extLst>
              <a:ext uri="{FF2B5EF4-FFF2-40B4-BE49-F238E27FC236}">
                <a16:creationId xmlns:a16="http://schemas.microsoft.com/office/drawing/2014/main" id="{297F524F-966A-4262-AD5F-83617CC20EC7}"/>
              </a:ext>
            </a:extLst>
          </p:cNvPr>
          <p:cNvSpPr>
            <a:spLocks noGrp="1"/>
          </p:cNvSpPr>
          <p:nvPr/>
        </p:nvSpPr>
        <p:spPr>
          <a:xfrm>
            <a:off x="571500" y="35433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Untersuchter</a:t>
            </a:r>
            <a:r>
              <a:rPr sz="1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Kern</a:t>
            </a:r>
          </a:p>
        </p:txBody>
      </p:sp>
      <p:sp>
        <p:nvSpPr>
          <p:cNvPr id="8" name="text-60-425">
            <a:extLst>
              <a:ext uri="{FF2B5EF4-FFF2-40B4-BE49-F238E27FC236}">
                <a16:creationId xmlns:a16="http://schemas.microsoft.com/office/drawing/2014/main" id="{778EE20E-26DA-4128-97A3-02C9C1C2F6B0}"/>
              </a:ext>
            </a:extLst>
          </p:cNvPr>
          <p:cNvSpPr>
            <a:spLocks noGrp="1"/>
          </p:cNvSpPr>
          <p:nvPr/>
        </p:nvSpPr>
        <p:spPr>
          <a:xfrm>
            <a:off x="571499" y="4048125"/>
            <a:ext cx="521073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statische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Topologie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aus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Hosts, Switches und Links</a:t>
            </a:r>
          </a:p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High-Level-Constraints: ALLOW und DENY</a:t>
            </a:r>
          </a:p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VLAN-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Zuweisung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als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technische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Umsetzung</a:t>
            </a:r>
            <a:endParaRPr sz="165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: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Heuristik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gegen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Z3</a:t>
            </a:r>
          </a:p>
        </p:txBody>
      </p:sp>
      <p:sp>
        <p:nvSpPr>
          <p:cNvPr id="9" name="text-680-372">
            <a:extLst>
              <a:ext uri="{FF2B5EF4-FFF2-40B4-BE49-F238E27FC236}">
                <a16:creationId xmlns:a16="http://schemas.microsoft.com/office/drawing/2014/main" id="{C7EEE2DF-ACED-478F-A900-C5F48EE5F2C9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Bewusste</a:t>
            </a:r>
            <a:r>
              <a:rPr sz="1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Abgrenzung</a:t>
            </a:r>
            <a:endParaRPr sz="18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-680-425">
            <a:extLst>
              <a:ext uri="{FF2B5EF4-FFF2-40B4-BE49-F238E27FC236}">
                <a16:creationId xmlns:a16="http://schemas.microsoft.com/office/drawing/2014/main" id="{2DB3E091-401D-4F06-B41A-1E3C98D34C29}"/>
              </a:ext>
            </a:extLst>
          </p:cNvPr>
          <p:cNvSpPr>
            <a:spLocks noGrp="1"/>
          </p:cNvSpPr>
          <p:nvPr/>
        </p:nvSpPr>
        <p:spPr>
          <a:xfrm>
            <a:off x="6477000" y="4048125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-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kein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produktives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Netzwerkmanagement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-System</a:t>
            </a:r>
          </a:p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-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keine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dynamischen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Trafficdaten</a:t>
            </a:r>
            <a:endParaRPr sz="1650" dirty="0">
              <a:solidFill>
                <a:srgbClr val="111111"/>
              </a:solidFill>
              <a:latin typeface="Arial"/>
              <a:cs typeface="Arial"/>
            </a:endParaRPr>
          </a:p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-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keine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Ports,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Protokolle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oder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Identitäten</a:t>
            </a:r>
            <a:endParaRPr sz="1650" dirty="0">
              <a:solidFill>
                <a:srgbClr val="111111"/>
              </a:solidFill>
              <a:latin typeface="Arial"/>
              <a:cs typeface="Arial"/>
            </a:endParaRPr>
          </a:p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-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synthetische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,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lösbare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Testszenarien</a:t>
            </a:r>
            <a:endParaRPr sz="1650" dirty="0">
              <a:solidFill>
                <a:srgbClr val="11111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433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-60-42">
            <a:extLst>
              <a:ext uri="{FF2B5EF4-FFF2-40B4-BE49-F238E27FC236}">
                <a16:creationId xmlns:a16="http://schemas.microsoft.com/office/drawing/2014/main" id="{264CC26D-D8B3-4E54-864E-BC4514E4823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B5F8CDB0-3242-4BEE-9252-63262578A820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LÖSUNGSANSATZ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68C6CE83-AB6E-4748-BDB1-D264CBDA3975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Digital Twin verbindet Sicherheitsabsicht und Topologie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48FEB0EF-C29C-4520-B703-31F2FACEB776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-254-329">
            <a:extLst>
              <a:ext uri="{FF2B5EF4-FFF2-40B4-BE49-F238E27FC236}">
                <a16:creationId xmlns:a16="http://schemas.microsoft.com/office/drawing/2014/main" id="{3175FF16-9318-4583-AC7C-48B56D2C47DB}"/>
              </a:ext>
            </a:extLst>
          </p:cNvPr>
          <p:cNvSpPr>
            <a:spLocks noGrp="1"/>
          </p:cNvSpPr>
          <p:nvPr/>
        </p:nvSpPr>
        <p:spPr>
          <a:xfrm>
            <a:off x="2419350" y="3531930"/>
            <a:ext cx="342900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rect-494-329">
            <a:extLst>
              <a:ext uri="{FF2B5EF4-FFF2-40B4-BE49-F238E27FC236}">
                <a16:creationId xmlns:a16="http://schemas.microsoft.com/office/drawing/2014/main" id="{3315B961-A526-4B02-B0B1-8DB2191EA84F}"/>
              </a:ext>
            </a:extLst>
          </p:cNvPr>
          <p:cNvSpPr>
            <a:spLocks noGrp="1"/>
          </p:cNvSpPr>
          <p:nvPr/>
        </p:nvSpPr>
        <p:spPr>
          <a:xfrm>
            <a:off x="4705350" y="3531930"/>
            <a:ext cx="342900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t-734-329">
            <a:extLst>
              <a:ext uri="{FF2B5EF4-FFF2-40B4-BE49-F238E27FC236}">
                <a16:creationId xmlns:a16="http://schemas.microsoft.com/office/drawing/2014/main" id="{DDCD797A-DC4F-47FA-AA25-50D6E24882F8}"/>
              </a:ext>
            </a:extLst>
          </p:cNvPr>
          <p:cNvSpPr>
            <a:spLocks noGrp="1"/>
          </p:cNvSpPr>
          <p:nvPr/>
        </p:nvSpPr>
        <p:spPr>
          <a:xfrm>
            <a:off x="6991350" y="3531930"/>
            <a:ext cx="342900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t-974-329">
            <a:extLst>
              <a:ext uri="{FF2B5EF4-FFF2-40B4-BE49-F238E27FC236}">
                <a16:creationId xmlns:a16="http://schemas.microsoft.com/office/drawing/2014/main" id="{2D6F9A0F-2FB9-41B4-A7C5-011267D78984}"/>
              </a:ext>
            </a:extLst>
          </p:cNvPr>
          <p:cNvSpPr>
            <a:spLocks noGrp="1"/>
          </p:cNvSpPr>
          <p:nvPr/>
        </p:nvSpPr>
        <p:spPr>
          <a:xfrm>
            <a:off x="9277350" y="3531930"/>
            <a:ext cx="342900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rect-64-238">
            <a:extLst>
              <a:ext uri="{FF2B5EF4-FFF2-40B4-BE49-F238E27FC236}">
                <a16:creationId xmlns:a16="http://schemas.microsoft.com/office/drawing/2014/main" id="{C7AFF25B-B0CE-4D05-8191-1AAF7C30D30D}"/>
              </a:ext>
            </a:extLst>
          </p:cNvPr>
          <p:cNvSpPr>
            <a:spLocks noGrp="1"/>
          </p:cNvSpPr>
          <p:nvPr/>
        </p:nvSpPr>
        <p:spPr>
          <a:xfrm>
            <a:off x="609600" y="2665155"/>
            <a:ext cx="1809750" cy="209550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-82-258">
            <a:extLst>
              <a:ext uri="{FF2B5EF4-FFF2-40B4-BE49-F238E27FC236}">
                <a16:creationId xmlns:a16="http://schemas.microsoft.com/office/drawing/2014/main" id="{15B6A77E-DC34-4714-A822-D208DA544E2F}"/>
              </a:ext>
            </a:extLst>
          </p:cNvPr>
          <p:cNvSpPr>
            <a:spLocks noGrp="1"/>
          </p:cNvSpPr>
          <p:nvPr/>
        </p:nvSpPr>
        <p:spPr>
          <a:xfrm>
            <a:off x="781050" y="285565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-82-316">
            <a:extLst>
              <a:ext uri="{FF2B5EF4-FFF2-40B4-BE49-F238E27FC236}">
                <a16:creationId xmlns:a16="http://schemas.microsoft.com/office/drawing/2014/main" id="{A0B00C2A-6610-44EB-807E-5E07EE9AA7C3}"/>
              </a:ext>
            </a:extLst>
          </p:cNvPr>
          <p:cNvSpPr>
            <a:spLocks noGrp="1"/>
          </p:cNvSpPr>
          <p:nvPr/>
        </p:nvSpPr>
        <p:spPr>
          <a:xfrm>
            <a:off x="781050" y="340810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Intent</a:t>
            </a:r>
          </a:p>
        </p:txBody>
      </p:sp>
      <p:sp>
        <p:nvSpPr>
          <p:cNvPr id="12" name="text-82-376">
            <a:extLst>
              <a:ext uri="{FF2B5EF4-FFF2-40B4-BE49-F238E27FC236}">
                <a16:creationId xmlns:a16="http://schemas.microsoft.com/office/drawing/2014/main" id="{E4900F0C-3433-4A6C-B969-AD24982C6A5F}"/>
              </a:ext>
            </a:extLst>
          </p:cNvPr>
          <p:cNvSpPr>
            <a:spLocks noGrp="1"/>
          </p:cNvSpPr>
          <p:nvPr/>
        </p:nvSpPr>
        <p:spPr>
          <a:xfrm>
            <a:off x="781050" y="3979605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ALLOW / DENY</a:t>
            </a:r>
          </a:p>
        </p:txBody>
      </p:sp>
      <p:sp>
        <p:nvSpPr>
          <p:cNvPr id="13" name="rect-304-238">
            <a:extLst>
              <a:ext uri="{FF2B5EF4-FFF2-40B4-BE49-F238E27FC236}">
                <a16:creationId xmlns:a16="http://schemas.microsoft.com/office/drawing/2014/main" id="{FABB0443-4019-4D31-879C-7CCF5B304A72}"/>
              </a:ext>
            </a:extLst>
          </p:cNvPr>
          <p:cNvSpPr>
            <a:spLocks noGrp="1"/>
          </p:cNvSpPr>
          <p:nvPr/>
        </p:nvSpPr>
        <p:spPr>
          <a:xfrm>
            <a:off x="2895600" y="2665155"/>
            <a:ext cx="1809750" cy="209550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-322-258">
            <a:extLst>
              <a:ext uri="{FF2B5EF4-FFF2-40B4-BE49-F238E27FC236}">
                <a16:creationId xmlns:a16="http://schemas.microsoft.com/office/drawing/2014/main" id="{C76BEBA0-EA01-4D51-A6A0-65580315C857}"/>
              </a:ext>
            </a:extLst>
          </p:cNvPr>
          <p:cNvSpPr>
            <a:spLocks noGrp="1"/>
          </p:cNvSpPr>
          <p:nvPr/>
        </p:nvSpPr>
        <p:spPr>
          <a:xfrm>
            <a:off x="3067050" y="285565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-322-316">
            <a:extLst>
              <a:ext uri="{FF2B5EF4-FFF2-40B4-BE49-F238E27FC236}">
                <a16:creationId xmlns:a16="http://schemas.microsoft.com/office/drawing/2014/main" id="{D0F2A152-8314-452E-967A-BB42E9B00C62}"/>
              </a:ext>
            </a:extLst>
          </p:cNvPr>
          <p:cNvSpPr>
            <a:spLocks noGrp="1"/>
          </p:cNvSpPr>
          <p:nvPr/>
        </p:nvSpPr>
        <p:spPr>
          <a:xfrm>
            <a:off x="3067050" y="340810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Digital Twin</a:t>
            </a:r>
          </a:p>
        </p:txBody>
      </p:sp>
      <p:sp>
        <p:nvSpPr>
          <p:cNvPr id="16" name="text-322-376">
            <a:extLst>
              <a:ext uri="{FF2B5EF4-FFF2-40B4-BE49-F238E27FC236}">
                <a16:creationId xmlns:a16="http://schemas.microsoft.com/office/drawing/2014/main" id="{1985EFD9-7442-4979-9DEB-7EC4D561686B}"/>
              </a:ext>
            </a:extLst>
          </p:cNvPr>
          <p:cNvSpPr>
            <a:spLocks noGrp="1"/>
          </p:cNvSpPr>
          <p:nvPr/>
        </p:nvSpPr>
        <p:spPr>
          <a:xfrm>
            <a:off x="3067050" y="3979605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Graph aus Hosts und Switches</a:t>
            </a:r>
          </a:p>
        </p:txBody>
      </p:sp>
      <p:sp>
        <p:nvSpPr>
          <p:cNvPr id="17" name="rect-544-238">
            <a:extLst>
              <a:ext uri="{FF2B5EF4-FFF2-40B4-BE49-F238E27FC236}">
                <a16:creationId xmlns:a16="http://schemas.microsoft.com/office/drawing/2014/main" id="{FCC2A1FB-C05D-4921-8B7D-7983A0E07084}"/>
              </a:ext>
            </a:extLst>
          </p:cNvPr>
          <p:cNvSpPr>
            <a:spLocks noGrp="1"/>
          </p:cNvSpPr>
          <p:nvPr/>
        </p:nvSpPr>
        <p:spPr>
          <a:xfrm>
            <a:off x="5181600" y="2665155"/>
            <a:ext cx="1809750" cy="209550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-562-258">
            <a:extLst>
              <a:ext uri="{FF2B5EF4-FFF2-40B4-BE49-F238E27FC236}">
                <a16:creationId xmlns:a16="http://schemas.microsoft.com/office/drawing/2014/main" id="{08484909-4815-46B8-97B7-5145245BD5D0}"/>
              </a:ext>
            </a:extLst>
          </p:cNvPr>
          <p:cNvSpPr>
            <a:spLocks noGrp="1"/>
          </p:cNvSpPr>
          <p:nvPr/>
        </p:nvSpPr>
        <p:spPr>
          <a:xfrm>
            <a:off x="5353050" y="285565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-562-316">
            <a:extLst>
              <a:ext uri="{FF2B5EF4-FFF2-40B4-BE49-F238E27FC236}">
                <a16:creationId xmlns:a16="http://schemas.microsoft.com/office/drawing/2014/main" id="{C81B7109-A12B-4610-A2FA-93A1069E628C}"/>
              </a:ext>
            </a:extLst>
          </p:cNvPr>
          <p:cNvSpPr>
            <a:spLocks noGrp="1"/>
          </p:cNvSpPr>
          <p:nvPr/>
        </p:nvSpPr>
        <p:spPr>
          <a:xfrm>
            <a:off x="5353050" y="340810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Pfadanalyse</a:t>
            </a:r>
          </a:p>
        </p:txBody>
      </p:sp>
      <p:sp>
        <p:nvSpPr>
          <p:cNvPr id="20" name="text-562-376">
            <a:extLst>
              <a:ext uri="{FF2B5EF4-FFF2-40B4-BE49-F238E27FC236}">
                <a16:creationId xmlns:a16="http://schemas.microsoft.com/office/drawing/2014/main" id="{B777CE97-5DDF-4CF2-9561-4FF2C7F3DB42}"/>
              </a:ext>
            </a:extLst>
          </p:cNvPr>
          <p:cNvSpPr>
            <a:spLocks noGrp="1"/>
          </p:cNvSpPr>
          <p:nvPr/>
        </p:nvSpPr>
        <p:spPr>
          <a:xfrm>
            <a:off x="5353050" y="3979605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kürzester realisierbarer Pfad</a:t>
            </a:r>
          </a:p>
        </p:txBody>
      </p:sp>
      <p:sp>
        <p:nvSpPr>
          <p:cNvPr id="21" name="rect-784-238">
            <a:extLst>
              <a:ext uri="{FF2B5EF4-FFF2-40B4-BE49-F238E27FC236}">
                <a16:creationId xmlns:a16="http://schemas.microsoft.com/office/drawing/2014/main" id="{DBE913F0-67D7-440A-B861-4499A013B77A}"/>
              </a:ext>
            </a:extLst>
          </p:cNvPr>
          <p:cNvSpPr>
            <a:spLocks noGrp="1"/>
          </p:cNvSpPr>
          <p:nvPr/>
        </p:nvSpPr>
        <p:spPr>
          <a:xfrm>
            <a:off x="7467600" y="2665155"/>
            <a:ext cx="1809750" cy="2095500"/>
          </a:xfrm>
          <a:prstGeom prst="rect">
            <a:avLst/>
          </a:prstGeom>
          <a:solidFill>
            <a:srgbClr val="FFF7A8"/>
          </a:solidFill>
          <a:ln w="0">
            <a:solidFill>
              <a:srgbClr val="FFF7A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-802-258">
            <a:extLst>
              <a:ext uri="{FF2B5EF4-FFF2-40B4-BE49-F238E27FC236}">
                <a16:creationId xmlns:a16="http://schemas.microsoft.com/office/drawing/2014/main" id="{816EFE9E-FFE4-493F-956F-8B6C82C9046B}"/>
              </a:ext>
            </a:extLst>
          </p:cNvPr>
          <p:cNvSpPr>
            <a:spLocks noGrp="1"/>
          </p:cNvSpPr>
          <p:nvPr/>
        </p:nvSpPr>
        <p:spPr>
          <a:xfrm>
            <a:off x="7639050" y="285565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text-802-316">
            <a:extLst>
              <a:ext uri="{FF2B5EF4-FFF2-40B4-BE49-F238E27FC236}">
                <a16:creationId xmlns:a16="http://schemas.microsoft.com/office/drawing/2014/main" id="{BB284A89-63F6-48CE-AE18-50C8080D35CA}"/>
              </a:ext>
            </a:extLst>
          </p:cNvPr>
          <p:cNvSpPr>
            <a:spLocks noGrp="1"/>
          </p:cNvSpPr>
          <p:nvPr/>
        </p:nvSpPr>
        <p:spPr>
          <a:xfrm>
            <a:off x="7639050" y="340810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Synthese</a:t>
            </a:r>
          </a:p>
        </p:txBody>
      </p:sp>
      <p:sp>
        <p:nvSpPr>
          <p:cNvPr id="24" name="text-802-376">
            <a:extLst>
              <a:ext uri="{FF2B5EF4-FFF2-40B4-BE49-F238E27FC236}">
                <a16:creationId xmlns:a16="http://schemas.microsoft.com/office/drawing/2014/main" id="{8EFC6D68-B8D4-4121-A428-E32471B1F408}"/>
              </a:ext>
            </a:extLst>
          </p:cNvPr>
          <p:cNvSpPr>
            <a:spLocks noGrp="1"/>
          </p:cNvSpPr>
          <p:nvPr/>
        </p:nvSpPr>
        <p:spPr>
          <a:xfrm>
            <a:off x="7639050" y="3979605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Heuristik oder Z3</a:t>
            </a:r>
          </a:p>
        </p:txBody>
      </p:sp>
      <p:sp>
        <p:nvSpPr>
          <p:cNvPr id="25" name="rect-1024-238">
            <a:extLst>
              <a:ext uri="{FF2B5EF4-FFF2-40B4-BE49-F238E27FC236}">
                <a16:creationId xmlns:a16="http://schemas.microsoft.com/office/drawing/2014/main" id="{6F554A61-2E97-4BED-BE26-E386C51CF9C7}"/>
              </a:ext>
            </a:extLst>
          </p:cNvPr>
          <p:cNvSpPr>
            <a:spLocks noGrp="1"/>
          </p:cNvSpPr>
          <p:nvPr/>
        </p:nvSpPr>
        <p:spPr>
          <a:xfrm>
            <a:off x="9753600" y="2665155"/>
            <a:ext cx="1809750" cy="209550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-1042-258">
            <a:extLst>
              <a:ext uri="{FF2B5EF4-FFF2-40B4-BE49-F238E27FC236}">
                <a16:creationId xmlns:a16="http://schemas.microsoft.com/office/drawing/2014/main" id="{D524E8E7-9811-4E51-8251-0E6B04AB211B}"/>
              </a:ext>
            </a:extLst>
          </p:cNvPr>
          <p:cNvSpPr>
            <a:spLocks noGrp="1"/>
          </p:cNvSpPr>
          <p:nvPr/>
        </p:nvSpPr>
        <p:spPr>
          <a:xfrm>
            <a:off x="9925050" y="285565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-1042-316">
            <a:extLst>
              <a:ext uri="{FF2B5EF4-FFF2-40B4-BE49-F238E27FC236}">
                <a16:creationId xmlns:a16="http://schemas.microsoft.com/office/drawing/2014/main" id="{DB88DB39-BC4B-4982-A778-FF9E48BF20FF}"/>
              </a:ext>
            </a:extLst>
          </p:cNvPr>
          <p:cNvSpPr>
            <a:spLocks noGrp="1"/>
          </p:cNvSpPr>
          <p:nvPr/>
        </p:nvSpPr>
        <p:spPr>
          <a:xfrm>
            <a:off x="9925050" y="340810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Ergebnis</a:t>
            </a:r>
          </a:p>
        </p:txBody>
      </p:sp>
      <p:sp>
        <p:nvSpPr>
          <p:cNvPr id="28" name="text-1042-376">
            <a:extLst>
              <a:ext uri="{FF2B5EF4-FFF2-40B4-BE49-F238E27FC236}">
                <a16:creationId xmlns:a16="http://schemas.microsoft.com/office/drawing/2014/main" id="{85703672-77D3-402F-AB72-5F980D440D8C}"/>
              </a:ext>
            </a:extLst>
          </p:cNvPr>
          <p:cNvSpPr>
            <a:spLocks noGrp="1"/>
          </p:cNvSpPr>
          <p:nvPr/>
        </p:nvSpPr>
        <p:spPr>
          <a:xfrm>
            <a:off x="9925050" y="3979605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validierte VLAN-Zuweisung</a:t>
            </a:r>
          </a:p>
        </p:txBody>
      </p:sp>
    </p:spTree>
    <p:extLst>
      <p:ext uri="{BB962C8B-B14F-4D97-AF65-F5344CB8AC3E}">
        <p14:creationId xmlns:p14="http://schemas.microsoft.com/office/powerpoint/2010/main" val="22941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-60-42">
            <a:extLst>
              <a:ext uri="{FF2B5EF4-FFF2-40B4-BE49-F238E27FC236}">
                <a16:creationId xmlns:a16="http://schemas.microsoft.com/office/drawing/2014/main" id="{961DF105-B2D9-40EE-A072-DC1F2859E85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AEEE75C7-48F2-4026-8449-CD3BAF9978F3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SYSTEMARCHITEKTUR</a:t>
            </a:r>
          </a:p>
        </p:txBody>
      </p:sp>
      <p:sp>
        <p:nvSpPr>
          <p:cNvPr id="3" name="slide-8-title">
            <a:extLst>
              <a:ext uri="{FF2B5EF4-FFF2-40B4-BE49-F238E27FC236}">
                <a16:creationId xmlns:a16="http://schemas.microsoft.com/office/drawing/2014/main" id="{30F3AD53-E6A9-4ED2-A6CA-9734EB39F966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de-CH"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Eine modulare Implementierung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A8416192-9633-4FA4-B8EE-E47190248F4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-284-250">
            <a:extLst>
              <a:ext uri="{FF2B5EF4-FFF2-40B4-BE49-F238E27FC236}">
                <a16:creationId xmlns:a16="http://schemas.microsoft.com/office/drawing/2014/main" id="{D741484F-1D12-4724-8C3A-0D6B187C1F76}"/>
              </a:ext>
            </a:extLst>
          </p:cNvPr>
          <p:cNvSpPr>
            <a:spLocks noGrp="1"/>
          </p:cNvSpPr>
          <p:nvPr/>
        </p:nvSpPr>
        <p:spPr>
          <a:xfrm>
            <a:off x="2705100" y="2381250"/>
            <a:ext cx="419100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rect-548-250">
            <a:extLst>
              <a:ext uri="{FF2B5EF4-FFF2-40B4-BE49-F238E27FC236}">
                <a16:creationId xmlns:a16="http://schemas.microsoft.com/office/drawing/2014/main" id="{42B32AC4-3460-4B00-AA8C-9574B4D6F0F9}"/>
              </a:ext>
            </a:extLst>
          </p:cNvPr>
          <p:cNvSpPr>
            <a:spLocks noGrp="1"/>
          </p:cNvSpPr>
          <p:nvPr/>
        </p:nvSpPr>
        <p:spPr>
          <a:xfrm>
            <a:off x="5219700" y="2381250"/>
            <a:ext cx="419100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t-812-250">
            <a:extLst>
              <a:ext uri="{FF2B5EF4-FFF2-40B4-BE49-F238E27FC236}">
                <a16:creationId xmlns:a16="http://schemas.microsoft.com/office/drawing/2014/main" id="{4640DD50-2F85-473F-A045-E4E017C38E16}"/>
              </a:ext>
            </a:extLst>
          </p:cNvPr>
          <p:cNvSpPr>
            <a:spLocks noGrp="1"/>
          </p:cNvSpPr>
          <p:nvPr/>
        </p:nvSpPr>
        <p:spPr>
          <a:xfrm>
            <a:off x="7734300" y="2381250"/>
            <a:ext cx="419100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t-956-338">
            <a:extLst>
              <a:ext uri="{FF2B5EF4-FFF2-40B4-BE49-F238E27FC236}">
                <a16:creationId xmlns:a16="http://schemas.microsoft.com/office/drawing/2014/main" id="{C405BCDD-E0EF-4142-8DC6-93CD1513CF2E}"/>
              </a:ext>
            </a:extLst>
          </p:cNvPr>
          <p:cNvSpPr>
            <a:spLocks noGrp="1"/>
          </p:cNvSpPr>
          <p:nvPr/>
        </p:nvSpPr>
        <p:spPr>
          <a:xfrm>
            <a:off x="9105900" y="3219450"/>
            <a:ext cx="228600" cy="361950"/>
          </a:xfrm>
          <a:prstGeom prst="down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rect-816-432">
            <a:extLst>
              <a:ext uri="{FF2B5EF4-FFF2-40B4-BE49-F238E27FC236}">
                <a16:creationId xmlns:a16="http://schemas.microsoft.com/office/drawing/2014/main" id="{0540F184-2C08-4D10-BF1F-7D6E95335AD5}"/>
              </a:ext>
            </a:extLst>
          </p:cNvPr>
          <p:cNvSpPr>
            <a:spLocks noGrp="1"/>
          </p:cNvSpPr>
          <p:nvPr/>
        </p:nvSpPr>
        <p:spPr>
          <a:xfrm>
            <a:off x="7772400" y="4114800"/>
            <a:ext cx="381000" cy="228600"/>
          </a:xfrm>
          <a:prstGeom prst="lef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rect-60-200">
            <a:extLst>
              <a:ext uri="{FF2B5EF4-FFF2-40B4-BE49-F238E27FC236}">
                <a16:creationId xmlns:a16="http://schemas.microsoft.com/office/drawing/2014/main" id="{BCE07025-EDA1-45F6-A87F-3365D71DA71F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2133600" cy="12382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-80-224">
            <a:extLst>
              <a:ext uri="{FF2B5EF4-FFF2-40B4-BE49-F238E27FC236}">
                <a16:creationId xmlns:a16="http://schemas.microsoft.com/office/drawing/2014/main" id="{8A4A4F78-6230-4D89-B27E-832830D67934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JSON-Input</a:t>
            </a:r>
          </a:p>
        </p:txBody>
      </p:sp>
      <p:sp>
        <p:nvSpPr>
          <p:cNvPr id="12" name="text-80-270">
            <a:extLst>
              <a:ext uri="{FF2B5EF4-FFF2-40B4-BE49-F238E27FC236}">
                <a16:creationId xmlns:a16="http://schemas.microsoft.com/office/drawing/2014/main" id="{D711A3A0-231E-41FB-8121-7D651077A7AA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Nodes · Links · Constraints</a:t>
            </a:r>
          </a:p>
        </p:txBody>
      </p:sp>
      <p:sp>
        <p:nvSpPr>
          <p:cNvPr id="13" name="rect-328-200">
            <a:extLst>
              <a:ext uri="{FF2B5EF4-FFF2-40B4-BE49-F238E27FC236}">
                <a16:creationId xmlns:a16="http://schemas.microsoft.com/office/drawing/2014/main" id="{3F8CC5D8-091F-44BC-90EE-4B4C911A7D78}"/>
              </a:ext>
            </a:extLst>
          </p:cNvPr>
          <p:cNvSpPr>
            <a:spLocks noGrp="1"/>
          </p:cNvSpPr>
          <p:nvPr/>
        </p:nvSpPr>
        <p:spPr>
          <a:xfrm>
            <a:off x="3124200" y="1905000"/>
            <a:ext cx="2133600" cy="12382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-348-224">
            <a:extLst>
              <a:ext uri="{FF2B5EF4-FFF2-40B4-BE49-F238E27FC236}">
                <a16:creationId xmlns:a16="http://schemas.microsoft.com/office/drawing/2014/main" id="{41EE776F-FE59-45DD-84E7-BD5026B1940D}"/>
              </a:ext>
            </a:extLst>
          </p:cNvPr>
          <p:cNvSpPr>
            <a:spLocks noGrp="1"/>
          </p:cNvSpPr>
          <p:nvPr/>
        </p:nvSpPr>
        <p:spPr>
          <a:xfrm>
            <a:off x="3314700" y="21336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15" name="text-348-270">
            <a:extLst>
              <a:ext uri="{FF2B5EF4-FFF2-40B4-BE49-F238E27FC236}">
                <a16:creationId xmlns:a16="http://schemas.microsoft.com/office/drawing/2014/main" id="{437C4330-A2B8-49B3-BECC-2A2F45204EA8}"/>
              </a:ext>
            </a:extLst>
          </p:cNvPr>
          <p:cNvSpPr>
            <a:spLocks noGrp="1"/>
          </p:cNvSpPr>
          <p:nvPr/>
        </p:nvSpPr>
        <p:spPr>
          <a:xfrm>
            <a:off x="3314700" y="25717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Expandieren und prüfen</a:t>
            </a:r>
          </a:p>
        </p:txBody>
      </p:sp>
      <p:sp>
        <p:nvSpPr>
          <p:cNvPr id="16" name="rect-592-200">
            <a:extLst>
              <a:ext uri="{FF2B5EF4-FFF2-40B4-BE49-F238E27FC236}">
                <a16:creationId xmlns:a16="http://schemas.microsoft.com/office/drawing/2014/main" id="{6D2E9D8E-8891-4EB5-A1FC-4BDB874A39C6}"/>
              </a:ext>
            </a:extLst>
          </p:cNvPr>
          <p:cNvSpPr>
            <a:spLocks noGrp="1"/>
          </p:cNvSpPr>
          <p:nvPr/>
        </p:nvSpPr>
        <p:spPr>
          <a:xfrm>
            <a:off x="5638800" y="1905000"/>
            <a:ext cx="2133600" cy="12382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-612-224">
            <a:extLst>
              <a:ext uri="{FF2B5EF4-FFF2-40B4-BE49-F238E27FC236}">
                <a16:creationId xmlns:a16="http://schemas.microsoft.com/office/drawing/2014/main" id="{4B81289E-1B9F-44E4-9914-7F61DD24493A}"/>
              </a:ext>
            </a:extLst>
          </p:cNvPr>
          <p:cNvSpPr>
            <a:spLocks noGrp="1"/>
          </p:cNvSpPr>
          <p:nvPr/>
        </p:nvSpPr>
        <p:spPr>
          <a:xfrm>
            <a:off x="5829300" y="21336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 Engine</a:t>
            </a:r>
          </a:p>
        </p:txBody>
      </p:sp>
      <p:sp>
        <p:nvSpPr>
          <p:cNvPr id="18" name="text-612-270">
            <a:extLst>
              <a:ext uri="{FF2B5EF4-FFF2-40B4-BE49-F238E27FC236}">
                <a16:creationId xmlns:a16="http://schemas.microsoft.com/office/drawing/2014/main" id="{4833602D-F5C5-49CE-9E26-552EF454A5AD}"/>
              </a:ext>
            </a:extLst>
          </p:cNvPr>
          <p:cNvSpPr>
            <a:spLocks noGrp="1"/>
          </p:cNvSpPr>
          <p:nvPr/>
        </p:nvSpPr>
        <p:spPr>
          <a:xfrm>
            <a:off x="5829300" y="25717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NetworkX · Pfade</a:t>
            </a:r>
          </a:p>
        </p:txBody>
      </p:sp>
      <p:sp>
        <p:nvSpPr>
          <p:cNvPr id="19" name="rect-856-200">
            <a:extLst>
              <a:ext uri="{FF2B5EF4-FFF2-40B4-BE49-F238E27FC236}">
                <a16:creationId xmlns:a16="http://schemas.microsoft.com/office/drawing/2014/main" id="{58171A0C-DCF5-4D14-8385-AD134142A9E1}"/>
              </a:ext>
            </a:extLst>
          </p:cNvPr>
          <p:cNvSpPr>
            <a:spLocks noGrp="1"/>
          </p:cNvSpPr>
          <p:nvPr/>
        </p:nvSpPr>
        <p:spPr>
          <a:xfrm>
            <a:off x="8153400" y="1905000"/>
            <a:ext cx="2133600" cy="12382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-876-224">
            <a:extLst>
              <a:ext uri="{FF2B5EF4-FFF2-40B4-BE49-F238E27FC236}">
                <a16:creationId xmlns:a16="http://schemas.microsoft.com/office/drawing/2014/main" id="{862014C2-16FB-4E14-8E8B-4834E1F440CF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Synthese</a:t>
            </a:r>
          </a:p>
        </p:txBody>
      </p:sp>
      <p:sp>
        <p:nvSpPr>
          <p:cNvPr id="21" name="text-876-270">
            <a:extLst>
              <a:ext uri="{FF2B5EF4-FFF2-40B4-BE49-F238E27FC236}">
                <a16:creationId xmlns:a16="http://schemas.microsoft.com/office/drawing/2014/main" id="{F806AB6A-F9FD-4687-BB5F-A585BC578F68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Heuristik und Z3</a:t>
            </a:r>
          </a:p>
        </p:txBody>
      </p:sp>
      <p:sp>
        <p:nvSpPr>
          <p:cNvPr id="22" name="rect-856-382">
            <a:extLst>
              <a:ext uri="{FF2B5EF4-FFF2-40B4-BE49-F238E27FC236}">
                <a16:creationId xmlns:a16="http://schemas.microsoft.com/office/drawing/2014/main" id="{F15CFCAD-F340-4E9B-BBE4-73D29A91E563}"/>
              </a:ext>
            </a:extLst>
          </p:cNvPr>
          <p:cNvSpPr>
            <a:spLocks noGrp="1"/>
          </p:cNvSpPr>
          <p:nvPr/>
        </p:nvSpPr>
        <p:spPr>
          <a:xfrm>
            <a:off x="8153400" y="3638550"/>
            <a:ext cx="2133600" cy="1238250"/>
          </a:xfrm>
          <a:prstGeom prst="rect">
            <a:avLst/>
          </a:prstGeom>
          <a:solidFill>
            <a:srgbClr val="FFF7A8"/>
          </a:solidFill>
          <a:ln w="0">
            <a:solidFill>
              <a:srgbClr val="FFF7A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-876-406">
            <a:extLst>
              <a:ext uri="{FF2B5EF4-FFF2-40B4-BE49-F238E27FC236}">
                <a16:creationId xmlns:a16="http://schemas.microsoft.com/office/drawing/2014/main" id="{39D5F3BC-56A9-4362-B613-187DD58DF766}"/>
              </a:ext>
            </a:extLst>
          </p:cNvPr>
          <p:cNvSpPr>
            <a:spLocks noGrp="1"/>
          </p:cNvSpPr>
          <p:nvPr/>
        </p:nvSpPr>
        <p:spPr>
          <a:xfrm>
            <a:off x="8343900" y="386715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24" name="text-876-452">
            <a:extLst>
              <a:ext uri="{FF2B5EF4-FFF2-40B4-BE49-F238E27FC236}">
                <a16:creationId xmlns:a16="http://schemas.microsoft.com/office/drawing/2014/main" id="{0637C63C-F75C-4924-9ABC-4A60CADEAA47}"/>
              </a:ext>
            </a:extLst>
          </p:cNvPr>
          <p:cNvSpPr>
            <a:spLocks noGrp="1"/>
          </p:cNvSpPr>
          <p:nvPr/>
        </p:nvSpPr>
        <p:spPr>
          <a:xfrm>
            <a:off x="8343900" y="4305300"/>
            <a:ext cx="1752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gleiche Bedingungen für beide Verfahren</a:t>
            </a:r>
          </a:p>
        </p:txBody>
      </p:sp>
      <p:sp>
        <p:nvSpPr>
          <p:cNvPr id="25" name="rect-592-382">
            <a:extLst>
              <a:ext uri="{FF2B5EF4-FFF2-40B4-BE49-F238E27FC236}">
                <a16:creationId xmlns:a16="http://schemas.microsoft.com/office/drawing/2014/main" id="{A0BD5A5B-D724-4E0D-9AD9-9A388C214A6D}"/>
              </a:ext>
            </a:extLst>
          </p:cNvPr>
          <p:cNvSpPr>
            <a:spLocks noGrp="1"/>
          </p:cNvSpPr>
          <p:nvPr/>
        </p:nvSpPr>
        <p:spPr>
          <a:xfrm>
            <a:off x="5638800" y="3638550"/>
            <a:ext cx="2133600" cy="12382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-612-406">
            <a:extLst>
              <a:ext uri="{FF2B5EF4-FFF2-40B4-BE49-F238E27FC236}">
                <a16:creationId xmlns:a16="http://schemas.microsoft.com/office/drawing/2014/main" id="{CCD9979E-928C-471D-AF4E-4A9EC00C2657}"/>
              </a:ext>
            </a:extLst>
          </p:cNvPr>
          <p:cNvSpPr>
            <a:spLocks noGrp="1"/>
          </p:cNvSpPr>
          <p:nvPr/>
        </p:nvSpPr>
        <p:spPr>
          <a:xfrm>
            <a:off x="5829300" y="386715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Visualisierung</a:t>
            </a:r>
          </a:p>
        </p:txBody>
      </p:sp>
      <p:sp>
        <p:nvSpPr>
          <p:cNvPr id="27" name="text-612-452">
            <a:extLst>
              <a:ext uri="{FF2B5EF4-FFF2-40B4-BE49-F238E27FC236}">
                <a16:creationId xmlns:a16="http://schemas.microsoft.com/office/drawing/2014/main" id="{E266CDA4-F20F-422A-84E0-F433C2639606}"/>
              </a:ext>
            </a:extLst>
          </p:cNvPr>
          <p:cNvSpPr>
            <a:spLocks noGrp="1"/>
          </p:cNvSpPr>
          <p:nvPr/>
        </p:nvSpPr>
        <p:spPr>
          <a:xfrm>
            <a:off x="5829300" y="4305300"/>
            <a:ext cx="1752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Topologie und VLAN-Belegung</a:t>
            </a:r>
          </a:p>
        </p:txBody>
      </p:sp>
      <p:sp>
        <p:nvSpPr>
          <p:cNvPr id="28" name="text-180-575">
            <a:extLst>
              <a:ext uri="{FF2B5EF4-FFF2-40B4-BE49-F238E27FC236}">
                <a16:creationId xmlns:a16="http://schemas.microsoft.com/office/drawing/2014/main" id="{00559FDD-28D0-4A1F-B072-587DC5B97709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Modularität</a:t>
            </a:r>
            <a:r>
              <a:rPr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ermöglicht</a:t>
            </a:r>
            <a:r>
              <a:rPr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reproduzierbare</a:t>
            </a:r>
            <a:r>
              <a:rPr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br>
              <a:rPr lang="de-CH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</a:br>
            <a:r>
              <a:rPr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und </a:t>
            </a:r>
            <a:r>
              <a:rPr sz="195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einen</a:t>
            </a:r>
            <a:r>
              <a:rPr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direkten</a:t>
            </a:r>
            <a:r>
              <a:rPr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Verfahrensvergleich</a:t>
            </a:r>
            <a:r>
              <a:rPr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385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-60-42">
            <a:extLst>
              <a:ext uri="{FF2B5EF4-FFF2-40B4-BE49-F238E27FC236}">
                <a16:creationId xmlns:a16="http://schemas.microsoft.com/office/drawing/2014/main" id="{30A9DAF9-12D1-495B-905C-E34AAB4F49B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3291CF0D-BE00-4089-A274-898884A99E99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DIGITAL TWIN</a:t>
            </a:r>
          </a:p>
        </p:txBody>
      </p:sp>
      <p:sp>
        <p:nvSpPr>
          <p:cNvPr id="3" name="slide-5-title">
            <a:extLst>
              <a:ext uri="{FF2B5EF4-FFF2-40B4-BE49-F238E27FC236}">
                <a16:creationId xmlns:a16="http://schemas.microsoft.com/office/drawing/2014/main" id="{B83BD88D-BF53-4118-9B28-663D70AA6464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Topologie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wird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als</a:t>
            </a:r>
            <a:r>
              <a:rPr lang="de-CH" sz="28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modelliert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E4DF4D3F-1AD3-47EA-B0F0-B9435FA1AD45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-60-165">
            <a:extLst>
              <a:ext uri="{FF2B5EF4-FFF2-40B4-BE49-F238E27FC236}">
                <a16:creationId xmlns:a16="http://schemas.microsoft.com/office/drawing/2014/main" id="{5AC1E214-9F26-42A1-B777-5E27C88BAC4A}"/>
              </a:ext>
            </a:extLst>
          </p:cNvPr>
          <p:cNvSpPr>
            <a:spLocks noGrp="1"/>
          </p:cNvSpPr>
          <p:nvPr/>
        </p:nvSpPr>
        <p:spPr>
          <a:xfrm>
            <a:off x="571499" y="1571625"/>
            <a:ext cx="6662677" cy="4476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rect-190-250">
            <a:extLst>
              <a:ext uri="{FF2B5EF4-FFF2-40B4-BE49-F238E27FC236}">
                <a16:creationId xmlns:a16="http://schemas.microsoft.com/office/drawing/2014/main" id="{00FEAD83-B4F1-48CD-A49F-CAE884137064}"/>
              </a:ext>
            </a:extLst>
          </p:cNvPr>
          <p:cNvSpPr>
            <a:spLocks noGrp="1"/>
          </p:cNvSpPr>
          <p:nvPr/>
        </p:nvSpPr>
        <p:spPr>
          <a:xfrm>
            <a:off x="1809750" y="2381250"/>
            <a:ext cx="952500" cy="590550"/>
          </a:xfrm>
          <a:prstGeom prst="roundRect">
            <a:avLst>
              <a:gd name="adj" fmla="val 12903"/>
            </a:avLst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t-550-250">
            <a:extLst>
              <a:ext uri="{FF2B5EF4-FFF2-40B4-BE49-F238E27FC236}">
                <a16:creationId xmlns:a16="http://schemas.microsoft.com/office/drawing/2014/main" id="{BEF23539-E1E2-4CAF-8E20-A1E51DE20DA5}"/>
              </a:ext>
            </a:extLst>
          </p:cNvPr>
          <p:cNvSpPr>
            <a:spLocks noGrp="1"/>
          </p:cNvSpPr>
          <p:nvPr/>
        </p:nvSpPr>
        <p:spPr>
          <a:xfrm>
            <a:off x="5238750" y="2381250"/>
            <a:ext cx="952500" cy="590550"/>
          </a:xfrm>
          <a:prstGeom prst="roundRect">
            <a:avLst>
              <a:gd name="adj" fmla="val 12903"/>
            </a:avLst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t-110-430">
            <a:extLst>
              <a:ext uri="{FF2B5EF4-FFF2-40B4-BE49-F238E27FC236}">
                <a16:creationId xmlns:a16="http://schemas.microsoft.com/office/drawing/2014/main" id="{3F7DB294-8ED0-487E-A6CF-BD4C68B5CC21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8191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rect-270-430">
            <a:extLst>
              <a:ext uri="{FF2B5EF4-FFF2-40B4-BE49-F238E27FC236}">
                <a16:creationId xmlns:a16="http://schemas.microsoft.com/office/drawing/2014/main" id="{9818BED6-A20A-4483-860B-B97582FEB060}"/>
              </a:ext>
            </a:extLst>
          </p:cNvPr>
          <p:cNvSpPr>
            <a:spLocks noGrp="1"/>
          </p:cNvSpPr>
          <p:nvPr/>
        </p:nvSpPr>
        <p:spPr>
          <a:xfrm>
            <a:off x="2571750" y="4095750"/>
            <a:ext cx="8191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rect-470-430">
            <a:extLst>
              <a:ext uri="{FF2B5EF4-FFF2-40B4-BE49-F238E27FC236}">
                <a16:creationId xmlns:a16="http://schemas.microsoft.com/office/drawing/2014/main" id="{6E26A9BA-744D-4B12-88F3-A8B2F98A2657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8191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rect-630-430">
            <a:extLst>
              <a:ext uri="{FF2B5EF4-FFF2-40B4-BE49-F238E27FC236}">
                <a16:creationId xmlns:a16="http://schemas.microsoft.com/office/drawing/2014/main" id="{23821C14-ACD7-45AC-BFBC-2E61F9685681}"/>
              </a:ext>
            </a:extLst>
          </p:cNvPr>
          <p:cNvSpPr>
            <a:spLocks noGrp="1"/>
          </p:cNvSpPr>
          <p:nvPr/>
        </p:nvSpPr>
        <p:spPr>
          <a:xfrm>
            <a:off x="6000750" y="4095750"/>
            <a:ext cx="8191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cxnSp>
        <p:nvCxnSpPr>
          <p:cNvPr id="44" name="Straight Arrow Connector 43"/>
          <p:cNvCxnSpPr>
            <a:stCxn id="6" idx="3"/>
            <a:endCxn id="7" idx="1"/>
          </p:cNvCxnSpPr>
          <p:nvPr/>
        </p:nvCxnSpPr>
        <p:spPr>
          <a:xfrm>
            <a:off x="2762250" y="2676525"/>
            <a:ext cx="2476500" cy="0"/>
          </a:xfrm>
          <a:prstGeom prst="straightConnector1">
            <a:avLst/>
          </a:prstGeom>
          <a:ln w="28575">
            <a:solidFill>
              <a:srgbClr val="C7C7C2"/>
            </a:solidFill>
            <a:prstDash val="solid"/>
          </a:ln>
        </p:spPr>
      </p:cxnSp>
      <p:cxnSp>
        <p:nvCxnSpPr>
          <p:cNvPr id="45" name="Straight Arrow Connector 44"/>
          <p:cNvCxnSpPr>
            <a:stCxn id="6" idx="2"/>
            <a:endCxn id="8" idx="0"/>
          </p:cNvCxnSpPr>
          <p:nvPr/>
        </p:nvCxnSpPr>
        <p:spPr>
          <a:xfrm flipH="1">
            <a:off x="1457325" y="2971800"/>
            <a:ext cx="828675" cy="1123950"/>
          </a:xfrm>
          <a:prstGeom prst="straightConnector1">
            <a:avLst/>
          </a:prstGeom>
          <a:ln w="28575">
            <a:solidFill>
              <a:srgbClr val="C7C7C2"/>
            </a:solidFill>
            <a:prstDash val="solid"/>
          </a:ln>
        </p:spPr>
      </p:cxnSp>
      <p:cxnSp>
        <p:nvCxnSpPr>
          <p:cNvPr id="46" name="Straight Arrow Connector 45"/>
          <p:cNvCxnSpPr>
            <a:stCxn id="6" idx="2"/>
            <a:endCxn id="9" idx="0"/>
          </p:cNvCxnSpPr>
          <p:nvPr/>
        </p:nvCxnSpPr>
        <p:spPr>
          <a:xfrm>
            <a:off x="2286000" y="2971800"/>
            <a:ext cx="695325" cy="1123950"/>
          </a:xfrm>
          <a:prstGeom prst="straightConnector1">
            <a:avLst/>
          </a:prstGeom>
          <a:ln w="28575">
            <a:solidFill>
              <a:srgbClr val="C7C7C2"/>
            </a:solidFill>
            <a:prstDash val="solid"/>
          </a:ln>
        </p:spPr>
      </p:cxnSp>
      <p:cxnSp>
        <p:nvCxnSpPr>
          <p:cNvPr id="47" name="Straight Arrow Connector 46"/>
          <p:cNvCxnSpPr>
            <a:stCxn id="7" idx="2"/>
            <a:endCxn id="10" idx="0"/>
          </p:cNvCxnSpPr>
          <p:nvPr/>
        </p:nvCxnSpPr>
        <p:spPr>
          <a:xfrm flipH="1">
            <a:off x="4886325" y="2971800"/>
            <a:ext cx="828675" cy="1123950"/>
          </a:xfrm>
          <a:prstGeom prst="straightConnector1">
            <a:avLst/>
          </a:prstGeom>
          <a:ln w="28575">
            <a:solidFill>
              <a:srgbClr val="C7C7C2"/>
            </a:solidFill>
            <a:prstDash val="solid"/>
          </a:ln>
        </p:spPr>
      </p:cxnSp>
      <p:cxnSp>
        <p:nvCxnSpPr>
          <p:cNvPr id="48" name="Straight Arrow Connector 47"/>
          <p:cNvCxnSpPr>
            <a:stCxn id="7" idx="2"/>
            <a:endCxn id="11" idx="0"/>
          </p:cNvCxnSpPr>
          <p:nvPr/>
        </p:nvCxnSpPr>
        <p:spPr>
          <a:xfrm>
            <a:off x="5715000" y="2971800"/>
            <a:ext cx="695325" cy="1123950"/>
          </a:xfrm>
          <a:prstGeom prst="straightConnector1">
            <a:avLst/>
          </a:prstGeom>
          <a:ln w="28575">
            <a:solidFill>
              <a:srgbClr val="C7C7C2"/>
            </a:solidFill>
            <a:prstDash val="solid"/>
          </a:ln>
        </p:spPr>
      </p:cxnSp>
      <p:cxnSp>
        <p:nvCxnSpPr>
          <p:cNvPr id="49" name="Straight Arrow Connector 48"/>
          <p:cNvCxnSpPr>
            <a:stCxn id="8" idx="0"/>
            <a:endCxn id="6" idx="2"/>
          </p:cNvCxnSpPr>
          <p:nvPr/>
        </p:nvCxnSpPr>
        <p:spPr>
          <a:xfrm flipV="1">
            <a:off x="1457325" y="2971800"/>
            <a:ext cx="828675" cy="1123950"/>
          </a:xfrm>
          <a:prstGeom prst="straightConnector1">
            <a:avLst/>
          </a:prstGeom>
          <a:ln w="66675">
            <a:solidFill>
              <a:srgbClr val="FDE70E"/>
            </a:solidFill>
            <a:prstDash val="solid"/>
          </a:ln>
        </p:spPr>
      </p:cxnSp>
      <p:cxnSp>
        <p:nvCxnSpPr>
          <p:cNvPr id="50" name="Straight Arrow Connector 49"/>
          <p:cNvCxnSpPr>
            <a:stCxn id="6" idx="3"/>
            <a:endCxn id="7" idx="1"/>
          </p:cNvCxnSpPr>
          <p:nvPr/>
        </p:nvCxnSpPr>
        <p:spPr>
          <a:xfrm>
            <a:off x="2762250" y="2676525"/>
            <a:ext cx="2476500" cy="0"/>
          </a:xfrm>
          <a:prstGeom prst="straightConnector1">
            <a:avLst/>
          </a:prstGeom>
          <a:ln w="66675">
            <a:solidFill>
              <a:srgbClr val="FDE70E"/>
            </a:solidFill>
            <a:prstDash val="solid"/>
          </a:ln>
        </p:spPr>
      </p:cxnSp>
      <p:cxnSp>
        <p:nvCxnSpPr>
          <p:cNvPr id="51" name="Straight Arrow Connector 50"/>
          <p:cNvCxnSpPr>
            <a:cxnSpLocks/>
            <a:stCxn id="7" idx="2"/>
            <a:endCxn id="10" idx="0"/>
          </p:cNvCxnSpPr>
          <p:nvPr/>
        </p:nvCxnSpPr>
        <p:spPr>
          <a:xfrm flipH="1">
            <a:off x="4886325" y="2971800"/>
            <a:ext cx="828675" cy="1123950"/>
          </a:xfrm>
          <a:prstGeom prst="straightConnector1">
            <a:avLst/>
          </a:prstGeom>
          <a:ln w="66675">
            <a:solidFill>
              <a:srgbClr val="FDE70E"/>
            </a:solidFill>
            <a:prstDash val="solid"/>
          </a:ln>
        </p:spPr>
      </p:cxnSp>
      <p:sp>
        <p:nvSpPr>
          <p:cNvPr id="20" name="text-195-270">
            <a:extLst>
              <a:ext uri="{FF2B5EF4-FFF2-40B4-BE49-F238E27FC236}">
                <a16:creationId xmlns:a16="http://schemas.microsoft.com/office/drawing/2014/main" id="{29C13838-FBDC-4CFD-9AC2-F1DE566E49A6}"/>
              </a:ext>
            </a:extLst>
          </p:cNvPr>
          <p:cNvSpPr>
            <a:spLocks noGrp="1"/>
          </p:cNvSpPr>
          <p:nvPr/>
        </p:nvSpPr>
        <p:spPr>
          <a:xfrm>
            <a:off x="1857375" y="2571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SW-01</a:t>
            </a:r>
          </a:p>
        </p:txBody>
      </p:sp>
      <p:sp>
        <p:nvSpPr>
          <p:cNvPr id="21" name="text-555-270">
            <a:extLst>
              <a:ext uri="{FF2B5EF4-FFF2-40B4-BE49-F238E27FC236}">
                <a16:creationId xmlns:a16="http://schemas.microsoft.com/office/drawing/2014/main" id="{15AEB07C-9DCF-424C-9F50-DA26F089B26A}"/>
              </a:ext>
            </a:extLst>
          </p:cNvPr>
          <p:cNvSpPr>
            <a:spLocks noGrp="1"/>
          </p:cNvSpPr>
          <p:nvPr/>
        </p:nvSpPr>
        <p:spPr>
          <a:xfrm>
            <a:off x="5286375" y="2571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SW-02</a:t>
            </a:r>
          </a:p>
        </p:txBody>
      </p:sp>
      <p:sp>
        <p:nvSpPr>
          <p:cNvPr id="22" name="text-115-450">
            <a:extLst>
              <a:ext uri="{FF2B5EF4-FFF2-40B4-BE49-F238E27FC236}">
                <a16:creationId xmlns:a16="http://schemas.microsoft.com/office/drawing/2014/main" id="{004539F3-93F2-447E-81F3-7CE03B23C535}"/>
              </a:ext>
            </a:extLst>
          </p:cNvPr>
          <p:cNvSpPr>
            <a:spLocks noGrp="1"/>
          </p:cNvSpPr>
          <p:nvPr/>
        </p:nvSpPr>
        <p:spPr>
          <a:xfrm>
            <a:off x="1095375" y="42862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User-1</a:t>
            </a:r>
          </a:p>
        </p:txBody>
      </p:sp>
      <p:sp>
        <p:nvSpPr>
          <p:cNvPr id="23" name="text-275-450">
            <a:extLst>
              <a:ext uri="{FF2B5EF4-FFF2-40B4-BE49-F238E27FC236}">
                <a16:creationId xmlns:a16="http://schemas.microsoft.com/office/drawing/2014/main" id="{1F85DFD4-E866-4BB0-BED0-86B6BF283CF0}"/>
              </a:ext>
            </a:extLst>
          </p:cNvPr>
          <p:cNvSpPr>
            <a:spLocks noGrp="1"/>
          </p:cNvSpPr>
          <p:nvPr/>
        </p:nvSpPr>
        <p:spPr>
          <a:xfrm>
            <a:off x="2619375" y="42862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App-1</a:t>
            </a:r>
          </a:p>
        </p:txBody>
      </p:sp>
      <p:sp>
        <p:nvSpPr>
          <p:cNvPr id="24" name="text-475-450">
            <a:extLst>
              <a:ext uri="{FF2B5EF4-FFF2-40B4-BE49-F238E27FC236}">
                <a16:creationId xmlns:a16="http://schemas.microsoft.com/office/drawing/2014/main" id="{00C16876-3B40-4990-AABA-8FE2DA70E865}"/>
              </a:ext>
            </a:extLst>
          </p:cNvPr>
          <p:cNvSpPr>
            <a:spLocks noGrp="1"/>
          </p:cNvSpPr>
          <p:nvPr/>
        </p:nvSpPr>
        <p:spPr>
          <a:xfrm>
            <a:off x="4524375" y="42862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DB-1</a:t>
            </a:r>
          </a:p>
        </p:txBody>
      </p:sp>
      <p:sp>
        <p:nvSpPr>
          <p:cNvPr id="25" name="text-635-450">
            <a:extLst>
              <a:ext uri="{FF2B5EF4-FFF2-40B4-BE49-F238E27FC236}">
                <a16:creationId xmlns:a16="http://schemas.microsoft.com/office/drawing/2014/main" id="{7157573A-3343-4C60-B3D9-473F2BF75AB2}"/>
              </a:ext>
            </a:extLst>
          </p:cNvPr>
          <p:cNvSpPr>
            <a:spLocks noGrp="1"/>
          </p:cNvSpPr>
          <p:nvPr/>
        </p:nvSpPr>
        <p:spPr>
          <a:xfrm>
            <a:off x="6048375" y="42862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User-2</a:t>
            </a:r>
          </a:p>
        </p:txBody>
      </p:sp>
      <p:sp>
        <p:nvSpPr>
          <p:cNvPr id="26" name="text-92-543">
            <a:extLst>
              <a:ext uri="{FF2B5EF4-FFF2-40B4-BE49-F238E27FC236}">
                <a16:creationId xmlns:a16="http://schemas.microsoft.com/office/drawing/2014/main" id="{F264643C-C815-4823-82AE-9F64B610B852}"/>
              </a:ext>
            </a:extLst>
          </p:cNvPr>
          <p:cNvSpPr>
            <a:spLocks noGrp="1"/>
          </p:cNvSpPr>
          <p:nvPr/>
        </p:nvSpPr>
        <p:spPr>
          <a:xfrm>
            <a:off x="876300" y="51720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Path(User-1, DB-1)</a:t>
            </a:r>
          </a:p>
        </p:txBody>
      </p:sp>
      <p:sp>
        <p:nvSpPr>
          <p:cNvPr id="27" name="text-92-579">
            <a:extLst>
              <a:ext uri="{FF2B5EF4-FFF2-40B4-BE49-F238E27FC236}">
                <a16:creationId xmlns:a16="http://schemas.microsoft.com/office/drawing/2014/main" id="{8CDC4035-1F78-4EBA-8230-64C574AC88EF}"/>
              </a:ext>
            </a:extLst>
          </p:cNvPr>
          <p:cNvSpPr>
            <a:spLocks noGrp="1"/>
          </p:cNvSpPr>
          <p:nvPr/>
        </p:nvSpPr>
        <p:spPr>
          <a:xfrm>
            <a:off x="876300" y="5514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User-1 → SW-01 → SW-02 → DB-1</a:t>
            </a:r>
          </a:p>
        </p:txBody>
      </p:sp>
      <p:sp>
        <p:nvSpPr>
          <p:cNvPr id="28" name="text-770-188">
            <a:extLst>
              <a:ext uri="{FF2B5EF4-FFF2-40B4-BE49-F238E27FC236}">
                <a16:creationId xmlns:a16="http://schemas.microsoft.com/office/drawing/2014/main" id="{65F2AED3-D151-4733-A85B-EEEF12A1B2B8}"/>
              </a:ext>
            </a:extLst>
          </p:cNvPr>
          <p:cNvSpPr>
            <a:spLocks noGrp="1"/>
          </p:cNvSpPr>
          <p:nvPr/>
        </p:nvSpPr>
        <p:spPr>
          <a:xfrm>
            <a:off x="7681492" y="179070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Warum</a:t>
            </a:r>
            <a:r>
              <a:rPr sz="21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die </a:t>
            </a:r>
            <a:r>
              <a:rPr sz="21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Topologie</a:t>
            </a:r>
            <a:r>
              <a:rPr sz="21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zählt</a:t>
            </a:r>
            <a:endParaRPr sz="21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-770-250">
            <a:extLst>
              <a:ext uri="{FF2B5EF4-FFF2-40B4-BE49-F238E27FC236}">
                <a16:creationId xmlns:a16="http://schemas.microsoft.com/office/drawing/2014/main" id="{1253A176-D6D6-4D1D-BA19-4FFA840C75C3}"/>
              </a:ext>
            </a:extLst>
          </p:cNvPr>
          <p:cNvSpPr>
            <a:spLocks noGrp="1"/>
          </p:cNvSpPr>
          <p:nvPr/>
        </p:nvSpPr>
        <p:spPr>
          <a:xfrm>
            <a:off x="7681492" y="2533650"/>
            <a:ext cx="381000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Eine ALLOW-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Beziehung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ist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erst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realisierbar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wenn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dasselbe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VLAN auf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jedem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beteiligten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Knoten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entlang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des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Pfads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verfügbar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ist</a:t>
            </a:r>
            <a:r>
              <a:rPr sz="18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0" name="rect-770-420">
            <a:extLst>
              <a:ext uri="{FF2B5EF4-FFF2-40B4-BE49-F238E27FC236}">
                <a16:creationId xmlns:a16="http://schemas.microsoft.com/office/drawing/2014/main" id="{3CF24158-0ABC-4A3B-8238-67DBA32501EB}"/>
              </a:ext>
            </a:extLst>
          </p:cNvPr>
          <p:cNvSpPr>
            <a:spLocks noGrp="1"/>
          </p:cNvSpPr>
          <p:nvPr/>
        </p:nvSpPr>
        <p:spPr>
          <a:xfrm>
            <a:off x="7681492" y="4495800"/>
            <a:ext cx="3714750" cy="15049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-800-447">
            <a:extLst>
              <a:ext uri="{FF2B5EF4-FFF2-40B4-BE49-F238E27FC236}">
                <a16:creationId xmlns:a16="http://schemas.microsoft.com/office/drawing/2014/main" id="{5B2EFB69-E1A8-4C4D-AE81-73F3F4CC8146}"/>
              </a:ext>
            </a:extLst>
          </p:cNvPr>
          <p:cNvSpPr>
            <a:spLocks noGrp="1"/>
          </p:cNvSpPr>
          <p:nvPr/>
        </p:nvSpPr>
        <p:spPr>
          <a:xfrm>
            <a:off x="7967242" y="47529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FDE70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DE70E"/>
                </a:solidFill>
                <a:latin typeface="Arial"/>
                <a:ea typeface="Arial"/>
                <a:cs typeface="Arial"/>
              </a:rPr>
              <a:t>Modellannahme</a:t>
            </a:r>
          </a:p>
        </p:txBody>
      </p:sp>
      <p:sp>
        <p:nvSpPr>
          <p:cNvPr id="32" name="text-800-493">
            <a:extLst>
              <a:ext uri="{FF2B5EF4-FFF2-40B4-BE49-F238E27FC236}">
                <a16:creationId xmlns:a16="http://schemas.microsoft.com/office/drawing/2014/main" id="{95ACB7BB-E69E-4B9F-97C5-40E760D0999C}"/>
              </a:ext>
            </a:extLst>
          </p:cNvPr>
          <p:cNvSpPr>
            <a:spLocks noGrp="1"/>
          </p:cNvSpPr>
          <p:nvPr/>
        </p:nvSpPr>
        <p:spPr>
          <a:xfrm>
            <a:off x="7967242" y="519112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Für die Synthese wird jeweils ein kürzester Pfad betrachtet.</a:t>
            </a:r>
          </a:p>
        </p:txBody>
      </p:sp>
    </p:spTree>
    <p:extLst>
      <p:ext uri="{BB962C8B-B14F-4D97-AF65-F5344CB8AC3E}">
        <p14:creationId xmlns:p14="http://schemas.microsoft.com/office/powerpoint/2010/main" val="106732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-60-42">
            <a:extLst>
              <a:ext uri="{FF2B5EF4-FFF2-40B4-BE49-F238E27FC236}">
                <a16:creationId xmlns:a16="http://schemas.microsoft.com/office/drawing/2014/main" id="{2310229A-F679-4BB6-B6AB-913CF3AF6DE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46CCE763-FFEC-49CA-B7BC-77B373142E5E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FORMALES MODELL</a:t>
            </a:r>
          </a:p>
        </p:txBody>
      </p:sp>
      <p:sp>
        <p:nvSpPr>
          <p:cNvPr id="3" name="slide-6-title">
            <a:extLst>
              <a:ext uri="{FF2B5EF4-FFF2-40B4-BE49-F238E27FC236}">
                <a16:creationId xmlns:a16="http://schemas.microsoft.com/office/drawing/2014/main" id="{47152F46-4C54-4496-BAD1-CE147040BC3C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ALLOW und DENY werden zu überprüfbaren Bedingungen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F8F82756-ABF4-44D9-8F2C-99FA5288E923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-60-238">
            <a:extLst>
              <a:ext uri="{FF2B5EF4-FFF2-40B4-BE49-F238E27FC236}">
                <a16:creationId xmlns:a16="http://schemas.microsoft.com/office/drawing/2014/main" id="{0533B57B-0BE3-4D06-BEC7-5942C2D356C8}"/>
              </a:ext>
            </a:extLst>
          </p:cNvPr>
          <p:cNvSpPr>
            <a:spLocks noGrp="1"/>
          </p:cNvSpPr>
          <p:nvPr/>
        </p:nvSpPr>
        <p:spPr>
          <a:xfrm>
            <a:off x="571499" y="1564430"/>
            <a:ext cx="5238750" cy="2068867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-88-265">
            <a:extLst>
              <a:ext uri="{FF2B5EF4-FFF2-40B4-BE49-F238E27FC236}">
                <a16:creationId xmlns:a16="http://schemas.microsoft.com/office/drawing/2014/main" id="{A7AB93EC-5DB0-40F8-98EA-22274F6C9C1E}"/>
              </a:ext>
            </a:extLst>
          </p:cNvPr>
          <p:cNvSpPr>
            <a:spLocks noGrp="1"/>
          </p:cNvSpPr>
          <p:nvPr/>
        </p:nvSpPr>
        <p:spPr>
          <a:xfrm>
            <a:off x="838200" y="1761441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9" name="text-88-315">
            <a:extLst>
              <a:ext uri="{FF2B5EF4-FFF2-40B4-BE49-F238E27FC236}">
                <a16:creationId xmlns:a16="http://schemas.microsoft.com/office/drawing/2014/main" id="{7089814A-3B06-4959-980F-968D80845F96}"/>
              </a:ext>
            </a:extLst>
          </p:cNvPr>
          <p:cNvSpPr>
            <a:spLocks noGrp="1"/>
          </p:cNvSpPr>
          <p:nvPr/>
        </p:nvSpPr>
        <p:spPr>
          <a:xfrm>
            <a:off x="838200" y="2207488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genau ein VLAN</a:t>
            </a:r>
          </a:p>
        </p:txBody>
      </p:sp>
      <p:sp>
        <p:nvSpPr>
          <p:cNvPr id="11" name="rect-435-238">
            <a:extLst>
              <a:ext uri="{FF2B5EF4-FFF2-40B4-BE49-F238E27FC236}">
                <a16:creationId xmlns:a16="http://schemas.microsoft.com/office/drawing/2014/main" id="{1944FE1A-ECEB-499D-809F-22311CB02BDE}"/>
              </a:ext>
            </a:extLst>
          </p:cNvPr>
          <p:cNvSpPr>
            <a:spLocks noGrp="1"/>
          </p:cNvSpPr>
          <p:nvPr/>
        </p:nvSpPr>
        <p:spPr>
          <a:xfrm>
            <a:off x="6381750" y="1562107"/>
            <a:ext cx="5238750" cy="2068866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-463-265">
            <a:extLst>
              <a:ext uri="{FF2B5EF4-FFF2-40B4-BE49-F238E27FC236}">
                <a16:creationId xmlns:a16="http://schemas.microsoft.com/office/drawing/2014/main" id="{12C15EA8-D035-43AE-B4C8-F03D464A5CCA}"/>
              </a:ext>
            </a:extLst>
          </p:cNvPr>
          <p:cNvSpPr>
            <a:spLocks noGrp="1"/>
          </p:cNvSpPr>
          <p:nvPr/>
        </p:nvSpPr>
        <p:spPr>
          <a:xfrm>
            <a:off x="6608027" y="1761441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Switches</a:t>
            </a:r>
          </a:p>
        </p:txBody>
      </p:sp>
      <p:sp>
        <p:nvSpPr>
          <p:cNvPr id="13" name="text-463-315">
            <a:extLst>
              <a:ext uri="{FF2B5EF4-FFF2-40B4-BE49-F238E27FC236}">
                <a16:creationId xmlns:a16="http://schemas.microsoft.com/office/drawing/2014/main" id="{6DCE1ED4-AA77-4B4A-99B9-A0F2FA3F5160}"/>
              </a:ext>
            </a:extLst>
          </p:cNvPr>
          <p:cNvSpPr>
            <a:spLocks noGrp="1"/>
          </p:cNvSpPr>
          <p:nvPr/>
        </p:nvSpPr>
        <p:spPr>
          <a:xfrm>
            <a:off x="6608027" y="2207488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mehrere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VLANs</a:t>
            </a:r>
          </a:p>
        </p:txBody>
      </p:sp>
      <p:sp>
        <p:nvSpPr>
          <p:cNvPr id="15" name="rect-810-165">
            <a:extLst>
              <a:ext uri="{FF2B5EF4-FFF2-40B4-BE49-F238E27FC236}">
                <a16:creationId xmlns:a16="http://schemas.microsoft.com/office/drawing/2014/main" id="{694C42FB-6D46-453D-91D2-643EBFC4BC25}"/>
              </a:ext>
            </a:extLst>
          </p:cNvPr>
          <p:cNvSpPr>
            <a:spLocks noGrp="1"/>
          </p:cNvSpPr>
          <p:nvPr/>
        </p:nvSpPr>
        <p:spPr>
          <a:xfrm>
            <a:off x="571499" y="5841854"/>
            <a:ext cx="11049001" cy="7143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-840-195">
            <a:extLst>
              <a:ext uri="{FF2B5EF4-FFF2-40B4-BE49-F238E27FC236}">
                <a16:creationId xmlns:a16="http://schemas.microsoft.com/office/drawing/2014/main" id="{99479B1E-C2E4-4471-B2C4-F1911885DD9B}"/>
              </a:ext>
            </a:extLst>
          </p:cNvPr>
          <p:cNvSpPr>
            <a:spLocks noGrp="1"/>
          </p:cNvSpPr>
          <p:nvPr/>
        </p:nvSpPr>
        <p:spPr>
          <a:xfrm>
            <a:off x="838201" y="6037116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FDE70E"/>
                </a:solidFill>
                <a:latin typeface="Arial"/>
                <a:ea typeface="Arial"/>
                <a:cs typeface="Arial"/>
              </a:defRPr>
            </a:pPr>
            <a:r>
              <a:rPr sz="1800" b="1" i="0" dirty="0" err="1">
                <a:solidFill>
                  <a:srgbClr val="FDE70E"/>
                </a:solidFill>
                <a:latin typeface="Arial"/>
                <a:ea typeface="Arial"/>
                <a:cs typeface="Arial"/>
              </a:rPr>
              <a:t>Topologiebedingung</a:t>
            </a:r>
            <a:endParaRPr sz="1800" b="1" i="0" dirty="0">
              <a:solidFill>
                <a:srgbClr val="FDE7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-840-256">
            <a:extLst>
              <a:ext uri="{FF2B5EF4-FFF2-40B4-BE49-F238E27FC236}">
                <a16:creationId xmlns:a16="http://schemas.microsoft.com/office/drawing/2014/main" id="{C8A22DF2-F3F0-4102-96C0-9B6D5F575208}"/>
              </a:ext>
            </a:extLst>
          </p:cNvPr>
          <p:cNvSpPr>
            <a:spLocks noGrp="1"/>
          </p:cNvSpPr>
          <p:nvPr/>
        </p:nvSpPr>
        <p:spPr>
          <a:xfrm>
            <a:off x="3536330" y="6039364"/>
            <a:ext cx="7893671" cy="3559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Ein </a:t>
            </a:r>
            <a:r>
              <a:rPr sz="1800" b="0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gemeinsames</a:t>
            </a:r>
            <a:r>
              <a:rPr sz="1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VLAN muss auf dem </a:t>
            </a:r>
            <a:r>
              <a:rPr sz="1800" b="0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vollständigen</a:t>
            </a:r>
            <a:r>
              <a:rPr sz="1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Pfad</a:t>
            </a:r>
            <a:r>
              <a:rPr sz="1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vorhanden</a:t>
            </a:r>
            <a:r>
              <a:rPr sz="1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sein.</a:t>
            </a:r>
          </a:p>
        </p:txBody>
      </p:sp>
      <p:sp>
        <p:nvSpPr>
          <p:cNvPr id="18" name="rect-60-448">
            <a:extLst>
              <a:ext uri="{FF2B5EF4-FFF2-40B4-BE49-F238E27FC236}">
                <a16:creationId xmlns:a16="http://schemas.microsoft.com/office/drawing/2014/main" id="{474BAD5E-7DEE-4806-A00C-37F8207A2AED}"/>
              </a:ext>
            </a:extLst>
          </p:cNvPr>
          <p:cNvSpPr>
            <a:spLocks noGrp="1"/>
          </p:cNvSpPr>
          <p:nvPr/>
        </p:nvSpPr>
        <p:spPr>
          <a:xfrm>
            <a:off x="571500" y="4055336"/>
            <a:ext cx="5238750" cy="152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solidFill>
              <a:srgbClr val="FFF7A8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9" name="text-90-476">
            <a:extLst>
              <a:ext uri="{FF2B5EF4-FFF2-40B4-BE49-F238E27FC236}">
                <a16:creationId xmlns:a16="http://schemas.microsoft.com/office/drawing/2014/main" id="{2C8322DD-FC39-435A-B0ED-C177A5089EA5}"/>
              </a:ext>
            </a:extLst>
          </p:cNvPr>
          <p:cNvSpPr>
            <a:spLocks noGrp="1"/>
          </p:cNvSpPr>
          <p:nvPr/>
        </p:nvSpPr>
        <p:spPr>
          <a:xfrm>
            <a:off x="857250" y="4322036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27833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33A"/>
                </a:solidFill>
                <a:latin typeface="Arial"/>
                <a:ea typeface="Arial"/>
                <a:cs typeface="Arial"/>
              </a:rPr>
              <a:t>ALLOW(A,B)</a:t>
            </a:r>
          </a:p>
        </p:txBody>
      </p:sp>
      <p:sp>
        <p:nvSpPr>
          <p:cNvPr id="20" name="text-90-526">
            <a:extLst>
              <a:ext uri="{FF2B5EF4-FFF2-40B4-BE49-F238E27FC236}">
                <a16:creationId xmlns:a16="http://schemas.microsoft.com/office/drawing/2014/main" id="{9701D0C8-E2AF-4EE1-919E-CE1AEC2C0306}"/>
              </a:ext>
            </a:extLst>
          </p:cNvPr>
          <p:cNvSpPr>
            <a:spLocks noGrp="1"/>
          </p:cNvSpPr>
          <p:nvPr/>
        </p:nvSpPr>
        <p:spPr>
          <a:xfrm>
            <a:off x="857250" y="4798286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 </a:t>
            </a:r>
            <a:r>
              <a:rPr sz="15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existiert</a:t>
            </a:r>
            <a:r>
              <a:rPr sz="15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</a:t>
            </a:r>
            <a:r>
              <a:rPr sz="15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VLAN, das A, B und </a:t>
            </a:r>
            <a:r>
              <a:rPr sz="15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jeden</a:t>
            </a:r>
            <a:r>
              <a:rPr sz="15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Knoten des </a:t>
            </a:r>
            <a:r>
              <a:rPr sz="15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Pfads</a:t>
            </a:r>
            <a:r>
              <a:rPr sz="15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verbindet</a:t>
            </a:r>
            <a:r>
              <a:rPr sz="15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-670-448">
            <a:extLst>
              <a:ext uri="{FF2B5EF4-FFF2-40B4-BE49-F238E27FC236}">
                <a16:creationId xmlns:a16="http://schemas.microsoft.com/office/drawing/2014/main" id="{FCEE409E-63B9-42C7-996D-1636A99F03E1}"/>
              </a:ext>
            </a:extLst>
          </p:cNvPr>
          <p:cNvSpPr>
            <a:spLocks noGrp="1"/>
          </p:cNvSpPr>
          <p:nvPr/>
        </p:nvSpPr>
        <p:spPr>
          <a:xfrm>
            <a:off x="6381750" y="4051154"/>
            <a:ext cx="5238750" cy="1524000"/>
          </a:xfrm>
          <a:prstGeom prst="rect">
            <a:avLst/>
          </a:prstGeom>
          <a:solidFill>
            <a:srgbClr val="FCE8EE"/>
          </a:solidFill>
          <a:ln w="0">
            <a:solidFill>
              <a:srgbClr val="FCE8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-700-476">
            <a:extLst>
              <a:ext uri="{FF2B5EF4-FFF2-40B4-BE49-F238E27FC236}">
                <a16:creationId xmlns:a16="http://schemas.microsoft.com/office/drawing/2014/main" id="{639545A6-F7B0-4AA6-8E25-1769AD499AED}"/>
              </a:ext>
            </a:extLst>
          </p:cNvPr>
          <p:cNvSpPr>
            <a:spLocks noGrp="1"/>
          </p:cNvSpPr>
          <p:nvPr/>
        </p:nvSpPr>
        <p:spPr>
          <a:xfrm>
            <a:off x="6667500" y="4317854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DF305B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DF305B"/>
                </a:solidFill>
                <a:latin typeface="Arial"/>
                <a:ea typeface="Arial"/>
                <a:cs typeface="Arial"/>
              </a:rPr>
              <a:t>DENY(A,B)</a:t>
            </a:r>
          </a:p>
        </p:txBody>
      </p:sp>
      <p:sp>
        <p:nvSpPr>
          <p:cNvPr id="23" name="text-700-526">
            <a:extLst>
              <a:ext uri="{FF2B5EF4-FFF2-40B4-BE49-F238E27FC236}">
                <a16:creationId xmlns:a16="http://schemas.microsoft.com/office/drawing/2014/main" id="{AFA1575A-5B97-4222-BF99-A9BECA64FF91}"/>
              </a:ext>
            </a:extLst>
          </p:cNvPr>
          <p:cNvSpPr>
            <a:spLocks noGrp="1"/>
          </p:cNvSpPr>
          <p:nvPr/>
        </p:nvSpPr>
        <p:spPr>
          <a:xfrm>
            <a:off x="6667500" y="4794104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 darf kein VLAN geben, das einen durchgängigen Pfad zwischen A und B erzeugt.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FA6EC2B-F57F-5B0F-A0ED-ADBA3F32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7374" y="2606140"/>
            <a:ext cx="4746626" cy="10083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C5B94DE-B080-61FB-B1AB-2C377FF126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87790" y="2731482"/>
            <a:ext cx="4756460" cy="88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1" grpId="0" animBg="1"/>
      <p:bldP spid="12" grpId="0"/>
      <p:bldP spid="13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-60-42">
            <a:extLst>
              <a:ext uri="{FF2B5EF4-FFF2-40B4-BE49-F238E27FC236}">
                <a16:creationId xmlns:a16="http://schemas.microsoft.com/office/drawing/2014/main" id="{FF1EC92F-0D15-4B72-BBED-09F822B518F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AF7B4B78-4B92-4E97-A4CE-072DADE02F74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SYNTHESE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78D9312A-DDC2-45C7-B319-9001E0AEB759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de-CH"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Synthese mit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Heuristik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und Z</a:t>
            </a:r>
            <a:r>
              <a:rPr lang="de-CH"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3-Solver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68CF43BF-01F4-4172-8DFA-79A3F4CE84F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-60-175">
            <a:extLst>
              <a:ext uri="{FF2B5EF4-FFF2-40B4-BE49-F238E27FC236}">
                <a16:creationId xmlns:a16="http://schemas.microsoft.com/office/drawing/2014/main" id="{85FEF4C5-0831-4328-BA3F-8F2EEEE4D05F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5191125" cy="3762375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rect-675-175">
            <a:extLst>
              <a:ext uri="{FF2B5EF4-FFF2-40B4-BE49-F238E27FC236}">
                <a16:creationId xmlns:a16="http://schemas.microsoft.com/office/drawing/2014/main" id="{3C377B58-FA57-4AFD-BC36-C5CEE1FC7FF5}"/>
              </a:ext>
            </a:extLst>
          </p:cNvPr>
          <p:cNvSpPr>
            <a:spLocks noGrp="1"/>
          </p:cNvSpPr>
          <p:nvPr/>
        </p:nvSpPr>
        <p:spPr>
          <a:xfrm>
            <a:off x="6429375" y="1666875"/>
            <a:ext cx="5191125" cy="3762375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-92-205">
            <a:extLst>
              <a:ext uri="{FF2B5EF4-FFF2-40B4-BE49-F238E27FC236}">
                <a16:creationId xmlns:a16="http://schemas.microsoft.com/office/drawing/2014/main" id="{1A535CB2-F30D-47F8-9575-5215F33C295F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Heuristik</a:t>
            </a:r>
            <a:endParaRPr sz="24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-92-254">
            <a:extLst>
              <a:ext uri="{FF2B5EF4-FFF2-40B4-BE49-F238E27FC236}">
                <a16:creationId xmlns:a16="http://schemas.microsoft.com/office/drawing/2014/main" id="{688E2599-7F0D-45DC-940C-3A9045DB4D22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lokal</a:t>
            </a:r>
            <a:r>
              <a:rPr sz="150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und </a:t>
            </a:r>
            <a:r>
              <a:rPr sz="150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schrittweise</a:t>
            </a:r>
            <a:endParaRPr sz="1500" b="0" i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-92-320">
            <a:extLst>
              <a:ext uri="{FF2B5EF4-FFF2-40B4-BE49-F238E27FC236}">
                <a16:creationId xmlns:a16="http://schemas.microsoft.com/office/drawing/2014/main" id="{33112874-82FF-4152-AE42-9FC26A2AC650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4095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 ALLOW-Constraint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wählen</a:t>
            </a:r>
            <a:endParaRPr sz="165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Pfad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bestimmen</a:t>
            </a:r>
            <a:endParaRPr sz="165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kompatibles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VLAN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wiederverwenden</a:t>
            </a:r>
            <a:endParaRPr sz="165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sonst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neues</a:t>
            </a:r>
            <a:r>
              <a:rPr sz="165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VLAN </a:t>
            </a:r>
            <a:r>
              <a:rPr sz="165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anlegen</a:t>
            </a:r>
            <a:endParaRPr sz="165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-92-500">
            <a:extLst>
              <a:ext uri="{FF2B5EF4-FFF2-40B4-BE49-F238E27FC236}">
                <a16:creationId xmlns:a16="http://schemas.microsoft.com/office/drawing/2014/main" id="{4B9E2D13-365C-45FB-8CD8-C5B5E0DB268F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419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rgbClr val="00B050"/>
                </a:solidFill>
                <a:latin typeface="Arial"/>
                <a:ea typeface="Arial"/>
                <a:cs typeface="Arial"/>
              </a:rPr>
              <a:t>+</a:t>
            </a:r>
            <a:r>
              <a:rPr sz="14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sehr</a:t>
            </a:r>
            <a:r>
              <a:rPr sz="14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schnell und </a:t>
            </a:r>
            <a:r>
              <a:rPr sz="14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nachvollziehbar</a:t>
            </a:r>
            <a:endParaRPr sz="14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−</a:t>
            </a:r>
            <a:r>
              <a:rPr sz="14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keine</a:t>
            </a:r>
            <a:r>
              <a:rPr sz="14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Garantie</a:t>
            </a:r>
            <a:r>
              <a:rPr sz="14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auf </a:t>
            </a:r>
            <a:r>
              <a:rPr sz="14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globale</a:t>
            </a:r>
            <a:r>
              <a:rPr sz="14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Lösung</a:t>
            </a:r>
            <a:endParaRPr sz="14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-707-205">
            <a:extLst>
              <a:ext uri="{FF2B5EF4-FFF2-40B4-BE49-F238E27FC236}">
                <a16:creationId xmlns:a16="http://schemas.microsoft.com/office/drawing/2014/main" id="{17A04CD3-03D8-46B2-9228-CBE15890F2D2}"/>
              </a:ext>
            </a:extLst>
          </p:cNvPr>
          <p:cNvSpPr>
            <a:spLocks noGrp="1"/>
          </p:cNvSpPr>
          <p:nvPr/>
        </p:nvSpPr>
        <p:spPr>
          <a:xfrm>
            <a:off x="6734175" y="19526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11111"/>
                </a:solidFill>
                <a:latin typeface="Arial"/>
                <a:cs typeface="Arial"/>
              </a:rPr>
              <a:t>Z3-Solver</a:t>
            </a:r>
          </a:p>
        </p:txBody>
      </p:sp>
      <p:sp>
        <p:nvSpPr>
          <p:cNvPr id="12" name="text-707-254">
            <a:extLst>
              <a:ext uri="{FF2B5EF4-FFF2-40B4-BE49-F238E27FC236}">
                <a16:creationId xmlns:a16="http://schemas.microsoft.com/office/drawing/2014/main" id="{3E48B041-1442-474D-A336-B33BE22B27FC}"/>
              </a:ext>
            </a:extLst>
          </p:cNvPr>
          <p:cNvSpPr>
            <a:spLocks noGrp="1"/>
          </p:cNvSpPr>
          <p:nvPr/>
        </p:nvSpPr>
        <p:spPr>
          <a:xfrm>
            <a:off x="6734175" y="2419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sz="1500" dirty="0">
                <a:solidFill>
                  <a:srgbClr val="666666"/>
                </a:solidFill>
                <a:latin typeface="Arial"/>
                <a:cs typeface="Arial"/>
              </a:rPr>
              <a:t>global und formal</a:t>
            </a:r>
          </a:p>
        </p:txBody>
      </p:sp>
      <p:sp>
        <p:nvSpPr>
          <p:cNvPr id="13" name="text-707-320">
            <a:extLst>
              <a:ext uri="{FF2B5EF4-FFF2-40B4-BE49-F238E27FC236}">
                <a16:creationId xmlns:a16="http://schemas.microsoft.com/office/drawing/2014/main" id="{A5C1D815-8244-4C0A-93DF-AE5EA9E439B6}"/>
              </a:ext>
            </a:extLst>
          </p:cNvPr>
          <p:cNvSpPr>
            <a:spLocks noGrp="1"/>
          </p:cNvSpPr>
          <p:nvPr/>
        </p:nvSpPr>
        <p:spPr>
          <a:xfrm>
            <a:off x="6734175" y="3048000"/>
            <a:ext cx="4191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1  alle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Variablen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aufstellen</a:t>
            </a:r>
            <a:endParaRPr sz="1650" dirty="0">
              <a:solidFill>
                <a:srgbClr val="111111"/>
              </a:solidFill>
              <a:latin typeface="Arial"/>
              <a:cs typeface="Arial"/>
            </a:endParaRPr>
          </a:p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2  alle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Bedingungen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gleichzeitig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codieren</a:t>
            </a:r>
            <a:endParaRPr sz="1650" dirty="0">
              <a:solidFill>
                <a:srgbClr val="111111"/>
              </a:solidFill>
              <a:latin typeface="Arial"/>
              <a:cs typeface="Arial"/>
            </a:endParaRPr>
          </a:p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3 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erfüllende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Belegung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suchen</a:t>
            </a:r>
            <a:endParaRPr sz="1650" dirty="0">
              <a:solidFill>
                <a:srgbClr val="111111"/>
              </a:solidFill>
              <a:latin typeface="Arial"/>
              <a:cs typeface="Arial"/>
            </a:endParaRPr>
          </a:p>
          <a:p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4  SAT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oder</a:t>
            </a:r>
            <a:r>
              <a:rPr sz="1650" dirty="0">
                <a:solidFill>
                  <a:srgbClr val="111111"/>
                </a:solidFill>
                <a:latin typeface="Arial"/>
                <a:cs typeface="Arial"/>
              </a:rPr>
              <a:t> UNSAT </a:t>
            </a:r>
            <a:r>
              <a:rPr sz="1650" dirty="0" err="1">
                <a:solidFill>
                  <a:srgbClr val="111111"/>
                </a:solidFill>
                <a:latin typeface="Arial"/>
                <a:cs typeface="Arial"/>
              </a:rPr>
              <a:t>zurückgeben</a:t>
            </a:r>
            <a:endParaRPr sz="1650" dirty="0">
              <a:solidFill>
                <a:srgbClr val="111111"/>
              </a:solidFill>
              <a:latin typeface="Arial"/>
              <a:cs typeface="Arial"/>
            </a:endParaRPr>
          </a:p>
        </p:txBody>
      </p:sp>
      <p:sp>
        <p:nvSpPr>
          <p:cNvPr id="14" name="text-707-500">
            <a:extLst>
              <a:ext uri="{FF2B5EF4-FFF2-40B4-BE49-F238E27FC236}">
                <a16:creationId xmlns:a16="http://schemas.microsoft.com/office/drawing/2014/main" id="{E003FD4D-CB0C-4925-8D09-5FBCAC8BA237}"/>
              </a:ext>
            </a:extLst>
          </p:cNvPr>
          <p:cNvSpPr>
            <a:spLocks noGrp="1"/>
          </p:cNvSpPr>
          <p:nvPr/>
        </p:nvSpPr>
        <p:spPr>
          <a:xfrm>
            <a:off x="6734175" y="47625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sz="1425" b="1" dirty="0">
                <a:solidFill>
                  <a:srgbClr val="00B050"/>
                </a:solidFill>
                <a:latin typeface="Arial"/>
                <a:cs typeface="Arial"/>
              </a:rPr>
              <a:t>+</a:t>
            </a:r>
            <a:r>
              <a:rPr sz="1425" b="1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25" b="1" dirty="0" err="1">
                <a:solidFill>
                  <a:srgbClr val="111111"/>
                </a:solidFill>
                <a:latin typeface="Arial"/>
                <a:cs typeface="Arial"/>
              </a:rPr>
              <a:t>gültige</a:t>
            </a:r>
            <a:r>
              <a:rPr sz="1425" b="1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25" b="1" dirty="0" err="1">
                <a:solidFill>
                  <a:srgbClr val="111111"/>
                </a:solidFill>
                <a:latin typeface="Arial"/>
                <a:cs typeface="Arial"/>
              </a:rPr>
              <a:t>Lösung</a:t>
            </a:r>
            <a:r>
              <a:rPr sz="1425" b="1" dirty="0">
                <a:solidFill>
                  <a:srgbClr val="111111"/>
                </a:solidFill>
                <a:latin typeface="Arial"/>
                <a:cs typeface="Arial"/>
              </a:rPr>
              <a:t> für SAT-</a:t>
            </a:r>
            <a:r>
              <a:rPr sz="1425" b="1" dirty="0" err="1">
                <a:solidFill>
                  <a:srgbClr val="111111"/>
                </a:solidFill>
                <a:latin typeface="Arial"/>
                <a:cs typeface="Arial"/>
              </a:rPr>
              <a:t>Instanzen</a:t>
            </a:r>
            <a:endParaRPr sz="1425" b="1" dirty="0">
              <a:solidFill>
                <a:srgbClr val="111111"/>
              </a:solidFill>
              <a:latin typeface="Arial"/>
              <a:cs typeface="Arial"/>
            </a:endParaRPr>
          </a:p>
          <a:p>
            <a:r>
              <a:rPr sz="1425" b="1" dirty="0">
                <a:solidFill>
                  <a:srgbClr val="FF0000"/>
                </a:solidFill>
                <a:latin typeface="Arial"/>
                <a:cs typeface="Arial"/>
              </a:rPr>
              <a:t>−</a:t>
            </a:r>
            <a:r>
              <a:rPr sz="1425" b="1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25" b="1" dirty="0" err="1">
                <a:solidFill>
                  <a:srgbClr val="111111"/>
                </a:solidFill>
                <a:latin typeface="Arial"/>
                <a:cs typeface="Arial"/>
              </a:rPr>
              <a:t>höherer</a:t>
            </a:r>
            <a:r>
              <a:rPr sz="1425" b="1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25" b="1" dirty="0" err="1">
                <a:solidFill>
                  <a:srgbClr val="111111"/>
                </a:solidFill>
                <a:latin typeface="Arial"/>
                <a:cs typeface="Arial"/>
              </a:rPr>
              <a:t>Rechenaufwand</a:t>
            </a:r>
            <a:r>
              <a:rPr sz="1425" b="1" dirty="0">
                <a:solidFill>
                  <a:srgbClr val="111111"/>
                </a:solidFill>
                <a:latin typeface="Arial"/>
                <a:cs typeface="Arial"/>
              </a:rPr>
              <a:t>, </a:t>
            </a:r>
            <a:r>
              <a:rPr sz="1425" b="1" dirty="0" err="1">
                <a:solidFill>
                  <a:srgbClr val="111111"/>
                </a:solidFill>
                <a:latin typeface="Arial"/>
                <a:cs typeface="Arial"/>
              </a:rPr>
              <a:t>keine</a:t>
            </a:r>
            <a:r>
              <a:rPr sz="1425" b="1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25" b="1" dirty="0" err="1">
                <a:solidFill>
                  <a:srgbClr val="111111"/>
                </a:solidFill>
                <a:latin typeface="Arial"/>
                <a:cs typeface="Arial"/>
              </a:rPr>
              <a:t>Optimierung</a:t>
            </a:r>
            <a:endParaRPr sz="1425" b="1" dirty="0">
              <a:solidFill>
                <a:srgbClr val="111111"/>
              </a:solidFill>
              <a:latin typeface="Arial"/>
              <a:cs typeface="Arial"/>
            </a:endParaRPr>
          </a:p>
        </p:txBody>
      </p:sp>
      <p:sp>
        <p:nvSpPr>
          <p:cNvPr id="15" name="text-250-610">
            <a:extLst>
              <a:ext uri="{FF2B5EF4-FFF2-40B4-BE49-F238E27FC236}">
                <a16:creationId xmlns:a16="http://schemas.microsoft.com/office/drawing/2014/main" id="{99A3AE16-F9A8-49B3-8FDE-A57D5605229E}"/>
              </a:ext>
            </a:extLst>
          </p:cNvPr>
          <p:cNvSpPr>
            <a:spLocks noGrp="1"/>
          </p:cNvSpPr>
          <p:nvPr/>
        </p:nvSpPr>
        <p:spPr>
          <a:xfrm>
            <a:off x="2381250" y="5810250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Beide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Ergebnisse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werden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durch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denselben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Validator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geprüft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579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-60-285">
            <a:extLst>
              <a:ext uri="{FF2B5EF4-FFF2-40B4-BE49-F238E27FC236}">
                <a16:creationId xmlns:a16="http://schemas.microsoft.com/office/drawing/2014/main" id="{4F8183D7-EA60-4B62-B8AC-6DB939BE4B6E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98120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rect-292-285">
            <a:extLst>
              <a:ext uri="{FF2B5EF4-FFF2-40B4-BE49-F238E27FC236}">
                <a16:creationId xmlns:a16="http://schemas.microsoft.com/office/drawing/2014/main" id="{52DD3BC9-C282-7D07-F361-BC4A59C8E62D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981200" cy="76200"/>
          </a:xfrm>
          <a:prstGeom prst="rect">
            <a:avLst/>
          </a:prstGeom>
          <a:solidFill>
            <a:srgbClr val="C7C7C2"/>
          </a:solidFill>
          <a:ln w="0">
            <a:solidFill>
              <a:srgbClr val="C7C7C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rect-60-42">
            <a:extLst>
              <a:ext uri="{FF2B5EF4-FFF2-40B4-BE49-F238E27FC236}">
                <a16:creationId xmlns:a16="http://schemas.microsoft.com/office/drawing/2014/main" id="{05F5D157-2108-454B-B10C-C3192EC1A87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EE9B5B8A-326D-48DB-842D-695D9E408FF9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87C846A7-A5FE-4D13-AD8D-87E2650A503F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Experimente vergleichen drei Einflussgrössen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C4A74B1F-A659-4E66-ABC3-9D738310C72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60-150">
            <a:extLst>
              <a:ext uri="{FF2B5EF4-FFF2-40B4-BE49-F238E27FC236}">
                <a16:creationId xmlns:a16="http://schemas.microsoft.com/office/drawing/2014/main" id="{55279938-D6C8-482E-994A-4F315820FCEE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Alle Datensätze wurden als lösbare SAT-Instanzen konstruiert. Dadurch stammen Unterschiede aus dem Lösungsverhalten der Verfahren – nicht aus unlösbaren Eingaben.</a:t>
            </a:r>
          </a:p>
        </p:txBody>
      </p:sp>
      <p:sp>
        <p:nvSpPr>
          <p:cNvPr id="8" name="text-82-320">
            <a:extLst>
              <a:ext uri="{FF2B5EF4-FFF2-40B4-BE49-F238E27FC236}">
                <a16:creationId xmlns:a16="http://schemas.microsoft.com/office/drawing/2014/main" id="{3996A89D-49C9-4C87-AB33-0A36E9D39187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1562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9" name="text-82-393">
            <a:extLst>
              <a:ext uri="{FF2B5EF4-FFF2-40B4-BE49-F238E27FC236}">
                <a16:creationId xmlns:a16="http://schemas.microsoft.com/office/drawing/2014/main" id="{53CED0FA-952E-47B7-B41B-89ACF69DE754}"/>
              </a:ext>
            </a:extLst>
          </p:cNvPr>
          <p:cNvSpPr>
            <a:spLocks noGrp="1"/>
          </p:cNvSpPr>
          <p:nvPr/>
        </p:nvSpPr>
        <p:spPr>
          <a:xfrm>
            <a:off x="781050" y="374332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</a:p>
        </p:txBody>
      </p:sp>
      <p:sp>
        <p:nvSpPr>
          <p:cNvPr id="10" name="text-82-442">
            <a:extLst>
              <a:ext uri="{FF2B5EF4-FFF2-40B4-BE49-F238E27FC236}">
                <a16:creationId xmlns:a16="http://schemas.microsoft.com/office/drawing/2014/main" id="{B0CAF3B8-74E9-438F-A014-E2EF70977ADB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automatisiert</a:t>
            </a:r>
          </a:p>
        </p:txBody>
      </p:sp>
      <p:sp>
        <p:nvSpPr>
          <p:cNvPr id="11" name="rect-292-285">
            <a:extLst>
              <a:ext uri="{FF2B5EF4-FFF2-40B4-BE49-F238E27FC236}">
                <a16:creationId xmlns:a16="http://schemas.microsoft.com/office/drawing/2014/main" id="{F4AB29DB-FF5D-4394-8E92-47BBD75A53DC}"/>
              </a:ext>
            </a:extLst>
          </p:cNvPr>
          <p:cNvSpPr>
            <a:spLocks noGrp="1"/>
          </p:cNvSpPr>
          <p:nvPr/>
        </p:nvSpPr>
        <p:spPr>
          <a:xfrm>
            <a:off x="2781300" y="2714625"/>
            <a:ext cx="198120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rect-292-285">
            <a:extLst>
              <a:ext uri="{FF2B5EF4-FFF2-40B4-BE49-F238E27FC236}">
                <a16:creationId xmlns:a16="http://schemas.microsoft.com/office/drawing/2014/main" id="{098E88F9-E234-4BD7-8B97-35B8B1E77360}"/>
              </a:ext>
            </a:extLst>
          </p:cNvPr>
          <p:cNvSpPr>
            <a:spLocks noGrp="1"/>
          </p:cNvSpPr>
          <p:nvPr/>
        </p:nvSpPr>
        <p:spPr>
          <a:xfrm>
            <a:off x="2781300" y="2714625"/>
            <a:ext cx="1981200" cy="76200"/>
          </a:xfrm>
          <a:prstGeom prst="rect">
            <a:avLst/>
          </a:prstGeom>
          <a:solidFill>
            <a:srgbClr val="C7C7C2"/>
          </a:solidFill>
          <a:ln w="0">
            <a:solidFill>
              <a:srgbClr val="C7C7C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-314-320">
            <a:extLst>
              <a:ext uri="{FF2B5EF4-FFF2-40B4-BE49-F238E27FC236}">
                <a16:creationId xmlns:a16="http://schemas.microsoft.com/office/drawing/2014/main" id="{715D1101-A848-4325-BCAB-642349AE5A0A}"/>
              </a:ext>
            </a:extLst>
          </p:cNvPr>
          <p:cNvSpPr>
            <a:spLocks noGrp="1"/>
          </p:cNvSpPr>
          <p:nvPr/>
        </p:nvSpPr>
        <p:spPr>
          <a:xfrm>
            <a:off x="2990850" y="3048000"/>
            <a:ext cx="1562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-314-393">
            <a:extLst>
              <a:ext uri="{FF2B5EF4-FFF2-40B4-BE49-F238E27FC236}">
                <a16:creationId xmlns:a16="http://schemas.microsoft.com/office/drawing/2014/main" id="{4FA67949-AA66-4F36-A8D9-1D22370C3C9F}"/>
              </a:ext>
            </a:extLst>
          </p:cNvPr>
          <p:cNvSpPr>
            <a:spLocks noGrp="1"/>
          </p:cNvSpPr>
          <p:nvPr/>
        </p:nvSpPr>
        <p:spPr>
          <a:xfrm>
            <a:off x="2990850" y="374332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Topologien</a:t>
            </a:r>
            <a:endParaRPr sz="157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-314-442">
            <a:extLst>
              <a:ext uri="{FF2B5EF4-FFF2-40B4-BE49-F238E27FC236}">
                <a16:creationId xmlns:a16="http://schemas.microsoft.com/office/drawing/2014/main" id="{C43D3974-5C50-47CA-8B6B-5FD0EC797D0C}"/>
              </a:ext>
            </a:extLst>
          </p:cNvPr>
          <p:cNvSpPr>
            <a:spLocks noGrp="1"/>
          </p:cNvSpPr>
          <p:nvPr/>
        </p:nvSpPr>
        <p:spPr>
          <a:xfrm>
            <a:off x="2990850" y="421005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Star · Tree · Mesh</a:t>
            </a:r>
          </a:p>
        </p:txBody>
      </p:sp>
      <p:sp>
        <p:nvSpPr>
          <p:cNvPr id="16" name="rect-524-285">
            <a:extLst>
              <a:ext uri="{FF2B5EF4-FFF2-40B4-BE49-F238E27FC236}">
                <a16:creationId xmlns:a16="http://schemas.microsoft.com/office/drawing/2014/main" id="{4AB3148D-A583-4A66-89A0-ADAC0369718B}"/>
              </a:ext>
            </a:extLst>
          </p:cNvPr>
          <p:cNvSpPr>
            <a:spLocks noGrp="1"/>
          </p:cNvSpPr>
          <p:nvPr/>
        </p:nvSpPr>
        <p:spPr>
          <a:xfrm>
            <a:off x="4991100" y="2714625"/>
            <a:ext cx="198120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rect-524-285">
            <a:extLst>
              <a:ext uri="{FF2B5EF4-FFF2-40B4-BE49-F238E27FC236}">
                <a16:creationId xmlns:a16="http://schemas.microsoft.com/office/drawing/2014/main" id="{66EC3EB9-6B69-4E7B-ABF0-91CE9AF16271}"/>
              </a:ext>
            </a:extLst>
          </p:cNvPr>
          <p:cNvSpPr>
            <a:spLocks noGrp="1"/>
          </p:cNvSpPr>
          <p:nvPr/>
        </p:nvSpPr>
        <p:spPr>
          <a:xfrm>
            <a:off x="4991100" y="2714625"/>
            <a:ext cx="1981200" cy="76200"/>
          </a:xfrm>
          <a:prstGeom prst="rect">
            <a:avLst/>
          </a:prstGeom>
          <a:solidFill>
            <a:srgbClr val="C7C7C2"/>
          </a:solidFill>
          <a:ln w="0">
            <a:solidFill>
              <a:srgbClr val="C7C7C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-546-320">
            <a:extLst>
              <a:ext uri="{FF2B5EF4-FFF2-40B4-BE49-F238E27FC236}">
                <a16:creationId xmlns:a16="http://schemas.microsoft.com/office/drawing/2014/main" id="{5616E343-E4E6-4470-84E6-99036C9B86E8}"/>
              </a:ext>
            </a:extLst>
          </p:cNvPr>
          <p:cNvSpPr>
            <a:spLocks noGrp="1"/>
          </p:cNvSpPr>
          <p:nvPr/>
        </p:nvSpPr>
        <p:spPr>
          <a:xfrm>
            <a:off x="5200650" y="3048000"/>
            <a:ext cx="1562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5–120</a:t>
            </a:r>
          </a:p>
        </p:txBody>
      </p:sp>
      <p:sp>
        <p:nvSpPr>
          <p:cNvPr id="19" name="text-546-393">
            <a:extLst>
              <a:ext uri="{FF2B5EF4-FFF2-40B4-BE49-F238E27FC236}">
                <a16:creationId xmlns:a16="http://schemas.microsoft.com/office/drawing/2014/main" id="{BF008297-13F7-4AB3-B860-FA84C00A9787}"/>
              </a:ext>
            </a:extLst>
          </p:cNvPr>
          <p:cNvSpPr>
            <a:spLocks noGrp="1"/>
          </p:cNvSpPr>
          <p:nvPr/>
        </p:nvSpPr>
        <p:spPr>
          <a:xfrm>
            <a:off x="5200650" y="374332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20" name="text-546-442">
            <a:extLst>
              <a:ext uri="{FF2B5EF4-FFF2-40B4-BE49-F238E27FC236}">
                <a16:creationId xmlns:a16="http://schemas.microsoft.com/office/drawing/2014/main" id="{8925A25E-588E-4008-BD15-106CE66C4FC0}"/>
              </a:ext>
            </a:extLst>
          </p:cNvPr>
          <p:cNvSpPr>
            <a:spLocks noGrp="1"/>
          </p:cNvSpPr>
          <p:nvPr/>
        </p:nvSpPr>
        <p:spPr>
          <a:xfrm>
            <a:off x="5200650" y="421005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 Netzwerkgrössen</a:t>
            </a:r>
          </a:p>
        </p:txBody>
      </p:sp>
      <p:sp>
        <p:nvSpPr>
          <p:cNvPr id="21" name="rect-756-285">
            <a:extLst>
              <a:ext uri="{FF2B5EF4-FFF2-40B4-BE49-F238E27FC236}">
                <a16:creationId xmlns:a16="http://schemas.microsoft.com/office/drawing/2014/main" id="{27328E58-CA21-4C33-891B-02630577870A}"/>
              </a:ext>
            </a:extLst>
          </p:cNvPr>
          <p:cNvSpPr>
            <a:spLocks noGrp="1"/>
          </p:cNvSpPr>
          <p:nvPr/>
        </p:nvSpPr>
        <p:spPr>
          <a:xfrm>
            <a:off x="7200900" y="2714625"/>
            <a:ext cx="198120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rect-756-285">
            <a:extLst>
              <a:ext uri="{FF2B5EF4-FFF2-40B4-BE49-F238E27FC236}">
                <a16:creationId xmlns:a16="http://schemas.microsoft.com/office/drawing/2014/main" id="{D79FC285-E203-45B2-A4F7-164E88DEC8BB}"/>
              </a:ext>
            </a:extLst>
          </p:cNvPr>
          <p:cNvSpPr>
            <a:spLocks noGrp="1"/>
          </p:cNvSpPr>
          <p:nvPr/>
        </p:nvSpPr>
        <p:spPr>
          <a:xfrm>
            <a:off x="7200900" y="2714625"/>
            <a:ext cx="1981200" cy="76200"/>
          </a:xfrm>
          <a:prstGeom prst="rect">
            <a:avLst/>
          </a:prstGeom>
          <a:solidFill>
            <a:srgbClr val="C7C7C2"/>
          </a:solidFill>
          <a:ln w="0">
            <a:solidFill>
              <a:srgbClr val="C7C7C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-778-320">
            <a:extLst>
              <a:ext uri="{FF2B5EF4-FFF2-40B4-BE49-F238E27FC236}">
                <a16:creationId xmlns:a16="http://schemas.microsoft.com/office/drawing/2014/main" id="{9C9D9F6F-D7ED-4BFB-90FB-17597A8CCD3D}"/>
              </a:ext>
            </a:extLst>
          </p:cNvPr>
          <p:cNvSpPr>
            <a:spLocks noGrp="1"/>
          </p:cNvSpPr>
          <p:nvPr/>
        </p:nvSpPr>
        <p:spPr>
          <a:xfrm>
            <a:off x="7410450" y="3048000"/>
            <a:ext cx="1562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-778-393">
            <a:extLst>
              <a:ext uri="{FF2B5EF4-FFF2-40B4-BE49-F238E27FC236}">
                <a16:creationId xmlns:a16="http://schemas.microsoft.com/office/drawing/2014/main" id="{47DA0351-6FF0-48D5-B9FF-F1DB8C25C353}"/>
              </a:ext>
            </a:extLst>
          </p:cNvPr>
          <p:cNvSpPr>
            <a:spLocks noGrp="1"/>
          </p:cNvSpPr>
          <p:nvPr/>
        </p:nvSpPr>
        <p:spPr>
          <a:xfrm>
            <a:off x="7410450" y="374332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Dichten</a:t>
            </a:r>
          </a:p>
        </p:txBody>
      </p:sp>
      <p:sp>
        <p:nvSpPr>
          <p:cNvPr id="25" name="text-778-442">
            <a:extLst>
              <a:ext uri="{FF2B5EF4-FFF2-40B4-BE49-F238E27FC236}">
                <a16:creationId xmlns:a16="http://schemas.microsoft.com/office/drawing/2014/main" id="{1E64F421-1C78-4C7C-B8F0-3FFB43870EA7}"/>
              </a:ext>
            </a:extLst>
          </p:cNvPr>
          <p:cNvSpPr>
            <a:spLocks noGrp="1"/>
          </p:cNvSpPr>
          <p:nvPr/>
        </p:nvSpPr>
        <p:spPr>
          <a:xfrm>
            <a:off x="7410450" y="421005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Low · Medium · High</a:t>
            </a:r>
          </a:p>
        </p:txBody>
      </p:sp>
      <p:sp>
        <p:nvSpPr>
          <p:cNvPr id="26" name="rect-988-285">
            <a:extLst>
              <a:ext uri="{FF2B5EF4-FFF2-40B4-BE49-F238E27FC236}">
                <a16:creationId xmlns:a16="http://schemas.microsoft.com/office/drawing/2014/main" id="{00807D10-881F-4F2D-8CA0-86057E179308}"/>
              </a:ext>
            </a:extLst>
          </p:cNvPr>
          <p:cNvSpPr>
            <a:spLocks noGrp="1"/>
          </p:cNvSpPr>
          <p:nvPr/>
        </p:nvSpPr>
        <p:spPr>
          <a:xfrm>
            <a:off x="9410700" y="2714625"/>
            <a:ext cx="198120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rect-988-285">
            <a:extLst>
              <a:ext uri="{FF2B5EF4-FFF2-40B4-BE49-F238E27FC236}">
                <a16:creationId xmlns:a16="http://schemas.microsoft.com/office/drawing/2014/main" id="{17B91E75-7BF4-494F-8895-E16707C18D42}"/>
              </a:ext>
            </a:extLst>
          </p:cNvPr>
          <p:cNvSpPr>
            <a:spLocks noGrp="1"/>
          </p:cNvSpPr>
          <p:nvPr/>
        </p:nvSpPr>
        <p:spPr>
          <a:xfrm>
            <a:off x="9410700" y="2714625"/>
            <a:ext cx="1981200" cy="76200"/>
          </a:xfrm>
          <a:prstGeom prst="rect">
            <a:avLst/>
          </a:prstGeom>
          <a:solidFill>
            <a:srgbClr val="C7C7C2"/>
          </a:solidFill>
          <a:ln w="0">
            <a:solidFill>
              <a:srgbClr val="C7C7C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-1010-320">
            <a:extLst>
              <a:ext uri="{FF2B5EF4-FFF2-40B4-BE49-F238E27FC236}">
                <a16:creationId xmlns:a16="http://schemas.microsoft.com/office/drawing/2014/main" id="{88DA2916-BA97-43FE-9750-68D146FEF82D}"/>
              </a:ext>
            </a:extLst>
          </p:cNvPr>
          <p:cNvSpPr>
            <a:spLocks noGrp="1"/>
          </p:cNvSpPr>
          <p:nvPr/>
        </p:nvSpPr>
        <p:spPr>
          <a:xfrm>
            <a:off x="9620250" y="3048000"/>
            <a:ext cx="1562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text-1010-393">
            <a:extLst>
              <a:ext uri="{FF2B5EF4-FFF2-40B4-BE49-F238E27FC236}">
                <a16:creationId xmlns:a16="http://schemas.microsoft.com/office/drawing/2014/main" id="{0F721EBB-05CA-4A12-B8A2-F3295B431AD1}"/>
              </a:ext>
            </a:extLst>
          </p:cNvPr>
          <p:cNvSpPr>
            <a:spLocks noGrp="1"/>
          </p:cNvSpPr>
          <p:nvPr/>
        </p:nvSpPr>
        <p:spPr>
          <a:xfrm>
            <a:off x="9620250" y="374332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Ansätze</a:t>
            </a:r>
          </a:p>
        </p:txBody>
      </p:sp>
      <p:sp>
        <p:nvSpPr>
          <p:cNvPr id="30" name="text-1010-442">
            <a:extLst>
              <a:ext uri="{FF2B5EF4-FFF2-40B4-BE49-F238E27FC236}">
                <a16:creationId xmlns:a16="http://schemas.microsoft.com/office/drawing/2014/main" id="{7ACE8EF9-045E-428E-9CB7-3FDDEF0FC5E4}"/>
              </a:ext>
            </a:extLst>
          </p:cNvPr>
          <p:cNvSpPr>
            <a:spLocks noGrp="1"/>
          </p:cNvSpPr>
          <p:nvPr/>
        </p:nvSpPr>
        <p:spPr>
          <a:xfrm>
            <a:off x="9620250" y="421005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Heuristik · Z3</a:t>
            </a:r>
          </a:p>
        </p:txBody>
      </p:sp>
      <p:sp>
        <p:nvSpPr>
          <p:cNvPr id="31" name="text-255-590">
            <a:extLst>
              <a:ext uri="{FF2B5EF4-FFF2-40B4-BE49-F238E27FC236}">
                <a16:creationId xmlns:a16="http://schemas.microsoft.com/office/drawing/2014/main" id="{0F8B8E41-5815-4625-AB70-CFB187CC912A}"/>
              </a:ext>
            </a:extLst>
          </p:cNvPr>
          <p:cNvSpPr>
            <a:spLocks noGrp="1"/>
          </p:cNvSpPr>
          <p:nvPr/>
        </p:nvSpPr>
        <p:spPr>
          <a:xfrm>
            <a:off x="2428875" y="5619750"/>
            <a:ext cx="733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Metriken: Laufzeit · gültige Lösung · verwendete VLANs</a:t>
            </a:r>
          </a:p>
        </p:txBody>
      </p:sp>
      <p:sp>
        <p:nvSpPr>
          <p:cNvPr id="7" name="rect-60-285">
            <a:extLst>
              <a:ext uri="{FF2B5EF4-FFF2-40B4-BE49-F238E27FC236}">
                <a16:creationId xmlns:a16="http://schemas.microsoft.com/office/drawing/2014/main" id="{D0E90809-2F77-4D63-83EA-F7EB71618DD7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981200" cy="76200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6758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AC556-E38F-C5FE-81A5-CD3ECC0E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-314-393">
            <a:extLst>
              <a:ext uri="{FF2B5EF4-FFF2-40B4-BE49-F238E27FC236}">
                <a16:creationId xmlns:a16="http://schemas.microsoft.com/office/drawing/2014/main" id="{1E20F336-C0C7-D017-309C-E652E02B0FFA}"/>
              </a:ext>
            </a:extLst>
          </p:cNvPr>
          <p:cNvSpPr>
            <a:spLocks noGrp="1"/>
          </p:cNvSpPr>
          <p:nvPr/>
        </p:nvSpPr>
        <p:spPr>
          <a:xfrm>
            <a:off x="1118308" y="2218483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de-CH" sz="15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</a:t>
            </a:r>
            <a:endParaRPr sz="157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-314-393">
            <a:extLst>
              <a:ext uri="{FF2B5EF4-FFF2-40B4-BE49-F238E27FC236}">
                <a16:creationId xmlns:a16="http://schemas.microsoft.com/office/drawing/2014/main" id="{209DA4F4-3E10-CA82-A707-F481B728C216}"/>
              </a:ext>
            </a:extLst>
          </p:cNvPr>
          <p:cNvSpPr>
            <a:spLocks noGrp="1"/>
          </p:cNvSpPr>
          <p:nvPr/>
        </p:nvSpPr>
        <p:spPr>
          <a:xfrm>
            <a:off x="5432499" y="2218483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de-CH" sz="15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Mesh</a:t>
            </a:r>
            <a:endParaRPr sz="157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-314-393">
            <a:extLst>
              <a:ext uri="{FF2B5EF4-FFF2-40B4-BE49-F238E27FC236}">
                <a16:creationId xmlns:a16="http://schemas.microsoft.com/office/drawing/2014/main" id="{7844CFE7-3849-7914-FCF1-40D74A1E6DCD}"/>
              </a:ext>
            </a:extLst>
          </p:cNvPr>
          <p:cNvSpPr>
            <a:spLocks noGrp="1"/>
          </p:cNvSpPr>
          <p:nvPr/>
        </p:nvSpPr>
        <p:spPr>
          <a:xfrm>
            <a:off x="9588649" y="2218483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de-CH" sz="15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Tree</a:t>
            </a:r>
            <a:endParaRPr sz="157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-60-42">
            <a:extLst>
              <a:ext uri="{FF2B5EF4-FFF2-40B4-BE49-F238E27FC236}">
                <a16:creationId xmlns:a16="http://schemas.microsoft.com/office/drawing/2014/main" id="{D3025167-A92D-82CF-004C-E79DF720F01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80E3EF4C-8BFC-11E1-7CB5-7010D703571F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C653DF01-7D54-4F98-8686-75C0F8A25F26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FAA4AA85-D1F9-7FF0-4525-50DA4429209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C6C2324-5A31-980B-6359-8770F0FA0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016" y="2781750"/>
            <a:ext cx="3769250" cy="360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AD39427-CE1D-4889-BA19-BB70871AA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65" y="2781750"/>
            <a:ext cx="3462269" cy="360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69B53B5-8BCF-2245-73E9-9395584F5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81750"/>
            <a:ext cx="379871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7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5792-211C-6D9F-8930-40E2C174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-60-42">
            <a:extLst>
              <a:ext uri="{FF2B5EF4-FFF2-40B4-BE49-F238E27FC236}">
                <a16:creationId xmlns:a16="http://schemas.microsoft.com/office/drawing/2014/main" id="{DD1D04D0-5194-0F91-5848-C85F9DC8224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0475329E-EAFA-5C84-294F-AB9487C6D71D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0A308F24-07E3-2ADA-7928-0CA27FDF6825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08B62335-75E2-C7DF-8B56-664735C8311D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48C24-54BA-701F-0479-16B9C6798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673" y="1214325"/>
            <a:ext cx="9172654" cy="566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01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2DDA-AE92-7AE8-275F-7AC7B4BD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-60-42">
            <a:extLst>
              <a:ext uri="{FF2B5EF4-FFF2-40B4-BE49-F238E27FC236}">
                <a16:creationId xmlns:a16="http://schemas.microsoft.com/office/drawing/2014/main" id="{E449E3E2-EA6C-2A0F-9E10-23DC744543E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75605626-2C5D-4A1F-2817-17E0CD465DF7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9120D86E-923D-D8FB-A917-B948105FAA08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ACB9C15F-9CD0-6001-6E59-E47CE1D097E6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4D57A-B28B-598B-0ACF-12D8C6F9D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02" y="1889239"/>
            <a:ext cx="10155595" cy="470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4B48-7F1C-28EB-BE84-59F8C5A9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-60-42">
            <a:extLst>
              <a:ext uri="{FF2B5EF4-FFF2-40B4-BE49-F238E27FC236}">
                <a16:creationId xmlns:a16="http://schemas.microsoft.com/office/drawing/2014/main" id="{5F791244-7ED7-31F5-0B10-1FBDCFC93D3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4FA9F798-EB79-ED7A-2C64-CBF8AEB63EBA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0D20EF2F-F210-869D-92EC-C38DE747B6B0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9050C365-AC50-319D-F173-BEFE2A7B98D3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22408-FA23-D5BE-C581-71FE2ABC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53" y="1242483"/>
            <a:ext cx="9291294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0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3CCE-DF25-F1EE-5783-2BCCDC97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-60-42">
            <a:extLst>
              <a:ext uri="{FF2B5EF4-FFF2-40B4-BE49-F238E27FC236}">
                <a16:creationId xmlns:a16="http://schemas.microsoft.com/office/drawing/2014/main" id="{A3BB9531-E6C4-5D3A-4DA9-CA6EC9B0DD7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1DA2B7B1-4470-DB2B-463A-B55864335055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AFF98592-D1AD-CDE8-9003-E0746B57206F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DBEE2CFB-F28D-E58E-42C4-3355BC0C861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866E2-4939-D4AA-3C7C-A46BBB19F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735" y="1200150"/>
            <a:ext cx="8585530" cy="583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7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F3EC-4373-F2E9-86E4-E7F9A44D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-60-42">
            <a:extLst>
              <a:ext uri="{FF2B5EF4-FFF2-40B4-BE49-F238E27FC236}">
                <a16:creationId xmlns:a16="http://schemas.microsoft.com/office/drawing/2014/main" id="{86B6F7CE-E963-0D2A-C28E-34F1682660C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2E12252F-E677-D91F-E289-3C4476C9EF02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A6866530-7FA0-CCAA-63E6-ED849BF2C01A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EDD53161-8996-E5A4-E050-D46CACD9305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50F430-D268-11FA-729F-BA1BF9397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083304"/>
            <a:ext cx="12366886" cy="272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EE8A-42F1-3B5A-DD28-6AD536D80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-60-42">
            <a:extLst>
              <a:ext uri="{FF2B5EF4-FFF2-40B4-BE49-F238E27FC236}">
                <a16:creationId xmlns:a16="http://schemas.microsoft.com/office/drawing/2014/main" id="{A2A88E31-549D-B91C-8773-276A34330CF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73748191-2559-637A-1AA0-800A468EBDA8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528E6776-2DA6-8023-B059-9FFBF8AC6670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0582BDDD-19E9-377D-D5F5-4D989AA955C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82DBF0-720D-340C-60A3-2E0CA3F24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7563" y="1289050"/>
            <a:ext cx="23415125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4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2A645-83A4-C857-3844-C3DCB4E2C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-60-42">
            <a:extLst>
              <a:ext uri="{FF2B5EF4-FFF2-40B4-BE49-F238E27FC236}">
                <a16:creationId xmlns:a16="http://schemas.microsoft.com/office/drawing/2014/main" id="{EF42A4A9-EB1B-8DC8-83A9-9792B9884E7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A08A39AF-942F-F6A1-14D4-A5296D2E7C07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95F7FD1A-152A-712A-DEA9-F09AE5BD4A8A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Experimente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vergleichen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drei</a:t>
            </a:r>
            <a:r>
              <a:rPr sz="28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Einflussgrössen</a:t>
            </a:r>
            <a:endParaRPr sz="28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7F4B8DA6-5185-E894-A7DA-55189D9A0A4D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04AD45-1775-7126-67BE-775BDCD63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29197" y="1403350"/>
            <a:ext cx="23415125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35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-60-42">
            <a:extLst>
              <a:ext uri="{FF2B5EF4-FFF2-40B4-BE49-F238E27FC236}">
                <a16:creationId xmlns:a16="http://schemas.microsoft.com/office/drawing/2014/main" id="{BF3CCF64-FE34-4506-8F2C-89C14C90A3D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629D1DB6-4CC6-44C6-BB4E-B3BE8F907364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ERGEBNIS 1 · LAUFZEIT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5B7A04F2-BD80-48F6-8F59-26775087252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-860-155">
            <a:extLst>
              <a:ext uri="{FF2B5EF4-FFF2-40B4-BE49-F238E27FC236}">
                <a16:creationId xmlns:a16="http://schemas.microsoft.com/office/drawing/2014/main" id="{095F5653-166D-41AF-9479-A941166F52E4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3143250" cy="1190625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-890-183">
            <a:extLst>
              <a:ext uri="{FF2B5EF4-FFF2-40B4-BE49-F238E27FC236}">
                <a16:creationId xmlns:a16="http://schemas.microsoft.com/office/drawing/2014/main" id="{25457602-0F24-4938-A8DD-12DCC7486EDF}"/>
              </a:ext>
            </a:extLst>
          </p:cNvPr>
          <p:cNvSpPr>
            <a:spLocks noGrp="1"/>
          </p:cNvSpPr>
          <p:nvPr/>
        </p:nvSpPr>
        <p:spPr>
          <a:xfrm>
            <a:off x="1143000" y="53149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0,0002–0,0006 s</a:t>
            </a:r>
          </a:p>
        </p:txBody>
      </p:sp>
      <p:sp>
        <p:nvSpPr>
          <p:cNvPr id="8" name="text-890-235">
            <a:extLst>
              <a:ext uri="{FF2B5EF4-FFF2-40B4-BE49-F238E27FC236}">
                <a16:creationId xmlns:a16="http://schemas.microsoft.com/office/drawing/2014/main" id="{40FBCBE3-ED92-4CD1-BED8-22438D390685}"/>
              </a:ext>
            </a:extLst>
          </p:cNvPr>
          <p:cNvSpPr>
            <a:spLocks noGrp="1"/>
          </p:cNvSpPr>
          <p:nvPr/>
        </p:nvSpPr>
        <p:spPr>
          <a:xfrm>
            <a:off x="1143000" y="5810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Heuristik</a:t>
            </a:r>
          </a:p>
        </p:txBody>
      </p:sp>
      <p:sp>
        <p:nvSpPr>
          <p:cNvPr id="9" name="rect-860-305">
            <a:extLst>
              <a:ext uri="{FF2B5EF4-FFF2-40B4-BE49-F238E27FC236}">
                <a16:creationId xmlns:a16="http://schemas.microsoft.com/office/drawing/2014/main" id="{22E94A40-658C-4A43-8944-75514CCE722A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3143250" cy="11906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-890-333">
            <a:extLst>
              <a:ext uri="{FF2B5EF4-FFF2-40B4-BE49-F238E27FC236}">
                <a16:creationId xmlns:a16="http://schemas.microsoft.com/office/drawing/2014/main" id="{B896DEAF-7C66-445F-B02D-C05CB511DE09}"/>
              </a:ext>
            </a:extLst>
          </p:cNvPr>
          <p:cNvSpPr>
            <a:spLocks noGrp="1"/>
          </p:cNvSpPr>
          <p:nvPr/>
        </p:nvSpPr>
        <p:spPr>
          <a:xfrm>
            <a:off x="4857750" y="53149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0,015–0,6 s</a:t>
            </a:r>
          </a:p>
        </p:txBody>
      </p:sp>
      <p:sp>
        <p:nvSpPr>
          <p:cNvPr id="11" name="text-890-385">
            <a:extLst>
              <a:ext uri="{FF2B5EF4-FFF2-40B4-BE49-F238E27FC236}">
                <a16:creationId xmlns:a16="http://schemas.microsoft.com/office/drawing/2014/main" id="{0334DF7B-67E6-4E89-B1C7-A4DE21C8F0D7}"/>
              </a:ext>
            </a:extLst>
          </p:cNvPr>
          <p:cNvSpPr>
            <a:spLocks noGrp="1"/>
          </p:cNvSpPr>
          <p:nvPr/>
        </p:nvSpPr>
        <p:spPr>
          <a:xfrm>
            <a:off x="4857750" y="5810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FDE70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DE70E"/>
                </a:solidFill>
                <a:latin typeface="Arial"/>
                <a:ea typeface="Arial"/>
                <a:cs typeface="Arial"/>
              </a:rPr>
              <a:t>Z3-Solver</a:t>
            </a:r>
          </a:p>
        </p:txBody>
      </p:sp>
      <p:sp>
        <p:nvSpPr>
          <p:cNvPr id="12" name="rect-860-455">
            <a:extLst>
              <a:ext uri="{FF2B5EF4-FFF2-40B4-BE49-F238E27FC236}">
                <a16:creationId xmlns:a16="http://schemas.microsoft.com/office/drawing/2014/main" id="{2BF1CD0F-1FC6-4614-B9F5-45B2547CE808}"/>
              </a:ext>
            </a:extLst>
          </p:cNvPr>
          <p:cNvSpPr>
            <a:spLocks noGrp="1"/>
          </p:cNvSpPr>
          <p:nvPr/>
        </p:nvSpPr>
        <p:spPr>
          <a:xfrm>
            <a:off x="8191500" y="5095875"/>
            <a:ext cx="3143250" cy="1143000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-890-482">
            <a:extLst>
              <a:ext uri="{FF2B5EF4-FFF2-40B4-BE49-F238E27FC236}">
                <a16:creationId xmlns:a16="http://schemas.microsoft.com/office/drawing/2014/main" id="{E140E893-D19D-4CD7-A910-A437BFFAAB18}"/>
              </a:ext>
            </a:extLst>
          </p:cNvPr>
          <p:cNvSpPr>
            <a:spLocks noGrp="1"/>
          </p:cNvSpPr>
          <p:nvPr/>
        </p:nvSpPr>
        <p:spPr>
          <a:xfrm>
            <a:off x="8477250" y="53530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71× bis 1219×</a:t>
            </a:r>
          </a:p>
        </p:txBody>
      </p:sp>
      <p:sp>
        <p:nvSpPr>
          <p:cNvPr id="14" name="text-890-532">
            <a:extLst>
              <a:ext uri="{FF2B5EF4-FFF2-40B4-BE49-F238E27FC236}">
                <a16:creationId xmlns:a16="http://schemas.microsoft.com/office/drawing/2014/main" id="{F1C68410-ADD0-4687-8E81-E094C67302AA}"/>
              </a:ext>
            </a:extLst>
          </p:cNvPr>
          <p:cNvSpPr>
            <a:spLocks noGrp="1"/>
          </p:cNvSpPr>
          <p:nvPr/>
        </p:nvSpPr>
        <p:spPr>
          <a:xfrm>
            <a:off x="8477250" y="5829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Vorteil der Heuristik</a:t>
            </a:r>
          </a:p>
        </p:txBody>
      </p:sp>
      <p:sp>
        <p:nvSpPr>
          <p:cNvPr id="15" name="text-120-612">
            <a:extLst>
              <a:ext uri="{FF2B5EF4-FFF2-40B4-BE49-F238E27FC236}">
                <a16:creationId xmlns:a16="http://schemas.microsoft.com/office/drawing/2014/main" id="{7CE4CE84-AAC7-4D39-9B0E-B1EF9295EA54}"/>
              </a:ext>
            </a:extLst>
          </p:cNvPr>
          <p:cNvSpPr>
            <a:spLocks noGrp="1"/>
          </p:cNvSpPr>
          <p:nvPr/>
        </p:nvSpPr>
        <p:spPr>
          <a:xfrm>
            <a:off x="1143000" y="6296025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Laufzeit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allein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beantwortet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noch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nicht,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die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erzeugte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Segmentierung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korrekt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ist</a:t>
            </a: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3B88F1-29BA-C8A1-5A38-B5E58976D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32" y="1112053"/>
            <a:ext cx="11020168" cy="379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8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-60-42">
            <a:extLst>
              <a:ext uri="{FF2B5EF4-FFF2-40B4-BE49-F238E27FC236}">
                <a16:creationId xmlns:a16="http://schemas.microsoft.com/office/drawing/2014/main" id="{228C185A-1948-48A5-8551-7E4E5DD0361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942B398F-E721-4369-ACF7-0E5C501838AF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ERGEBNIS 2 · ROBUSTHEIT</a:t>
            </a:r>
          </a:p>
        </p:txBody>
      </p:sp>
      <p:sp>
        <p:nvSpPr>
          <p:cNvPr id="3" name="slide-11-title">
            <a:extLst>
              <a:ext uri="{FF2B5EF4-FFF2-40B4-BE49-F238E27FC236}">
                <a16:creationId xmlns:a16="http://schemas.microsoft.com/office/drawing/2014/main" id="{D127BFE7-AB0A-444F-B5AC-B590A6AF3C88}"/>
              </a:ext>
            </a:extLst>
          </p:cNvPr>
          <p:cNvSpPr>
            <a:spLocks noGrp="1"/>
          </p:cNvSpPr>
          <p:nvPr/>
        </p:nvSpPr>
        <p:spPr>
          <a:xfrm>
            <a:off x="571500" y="833438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Bei dichter werdenden Regeln bricht die Heuristik ein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C09E6BD4-88B4-4DF6-9103-A8A2542782B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rect-865-170">
            <a:extLst>
              <a:ext uri="{FF2B5EF4-FFF2-40B4-BE49-F238E27FC236}">
                <a16:creationId xmlns:a16="http://schemas.microsoft.com/office/drawing/2014/main" id="{E2DBC3CC-2FBD-4726-82F0-5FF83D75B726}"/>
              </a:ext>
            </a:extLst>
          </p:cNvPr>
          <p:cNvSpPr>
            <a:spLocks noGrp="1"/>
          </p:cNvSpPr>
          <p:nvPr/>
        </p:nvSpPr>
        <p:spPr>
          <a:xfrm>
            <a:off x="989239" y="5423253"/>
            <a:ext cx="4812847" cy="1168047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-895-202">
            <a:extLst>
              <a:ext uri="{FF2B5EF4-FFF2-40B4-BE49-F238E27FC236}">
                <a16:creationId xmlns:a16="http://schemas.microsoft.com/office/drawing/2014/main" id="{1366E816-496F-4C1B-9387-49290E166B6D}"/>
              </a:ext>
            </a:extLst>
          </p:cNvPr>
          <p:cNvSpPr>
            <a:spLocks noGrp="1"/>
          </p:cNvSpPr>
          <p:nvPr/>
        </p:nvSpPr>
        <p:spPr>
          <a:xfrm>
            <a:off x="1274989" y="5512600"/>
            <a:ext cx="3924321" cy="4105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 i="0">
                <a:solidFill>
                  <a:srgbClr val="DF305B"/>
                </a:solidFill>
                <a:latin typeface="Arial"/>
                <a:ea typeface="Arial"/>
                <a:cs typeface="Arial"/>
              </a:defRPr>
            </a:pPr>
            <a:r>
              <a:rPr sz="3300" b="1" i="0" dirty="0">
                <a:solidFill>
                  <a:srgbClr val="DF305B"/>
                </a:solidFill>
                <a:latin typeface="Arial"/>
                <a:ea typeface="Arial"/>
                <a:cs typeface="Arial"/>
              </a:rPr>
              <a:t>33 / 72</a:t>
            </a:r>
          </a:p>
        </p:txBody>
      </p:sp>
      <p:sp>
        <p:nvSpPr>
          <p:cNvPr id="8" name="text-895-273">
            <a:extLst>
              <a:ext uri="{FF2B5EF4-FFF2-40B4-BE49-F238E27FC236}">
                <a16:creationId xmlns:a16="http://schemas.microsoft.com/office/drawing/2014/main" id="{47F34A6B-CEA2-488F-9FEC-949DF389036D}"/>
              </a:ext>
            </a:extLst>
          </p:cNvPr>
          <p:cNvSpPr>
            <a:spLocks noGrp="1"/>
          </p:cNvSpPr>
          <p:nvPr/>
        </p:nvSpPr>
        <p:spPr>
          <a:xfrm>
            <a:off x="1274989" y="6149739"/>
            <a:ext cx="3924321" cy="2973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gültige</a:t>
            </a:r>
            <a:r>
              <a:rPr sz="15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Heuristik-Lösungen</a:t>
            </a:r>
            <a:endParaRPr sz="15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-865-360">
            <a:extLst>
              <a:ext uri="{FF2B5EF4-FFF2-40B4-BE49-F238E27FC236}">
                <a16:creationId xmlns:a16="http://schemas.microsoft.com/office/drawing/2014/main" id="{C10F2561-D84A-46A7-A984-10D6126A0778}"/>
              </a:ext>
            </a:extLst>
          </p:cNvPr>
          <p:cNvSpPr>
            <a:spLocks noGrp="1"/>
          </p:cNvSpPr>
          <p:nvPr/>
        </p:nvSpPr>
        <p:spPr>
          <a:xfrm>
            <a:off x="6087836" y="5423253"/>
            <a:ext cx="4865915" cy="1168047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-895-392">
            <a:extLst>
              <a:ext uri="{FF2B5EF4-FFF2-40B4-BE49-F238E27FC236}">
                <a16:creationId xmlns:a16="http://schemas.microsoft.com/office/drawing/2014/main" id="{2E0EBBAD-7729-4727-B03C-589330C82622}"/>
              </a:ext>
            </a:extLst>
          </p:cNvPr>
          <p:cNvSpPr>
            <a:spLocks noGrp="1"/>
          </p:cNvSpPr>
          <p:nvPr/>
        </p:nvSpPr>
        <p:spPr>
          <a:xfrm>
            <a:off x="6700408" y="5512600"/>
            <a:ext cx="3967593" cy="4105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 i="0">
                <a:solidFill>
                  <a:srgbClr val="FDE70E"/>
                </a:solidFill>
                <a:latin typeface="Arial"/>
                <a:ea typeface="Arial"/>
                <a:cs typeface="Arial"/>
              </a:defRPr>
            </a:pPr>
            <a:r>
              <a:rPr sz="3300" b="1" i="0" dirty="0">
                <a:solidFill>
                  <a:srgbClr val="FDE70E"/>
                </a:solidFill>
                <a:latin typeface="Arial"/>
                <a:ea typeface="Arial"/>
                <a:cs typeface="Arial"/>
              </a:rPr>
              <a:t>72 / 72</a:t>
            </a:r>
          </a:p>
        </p:txBody>
      </p:sp>
      <p:sp>
        <p:nvSpPr>
          <p:cNvPr id="11" name="text-895-463">
            <a:extLst>
              <a:ext uri="{FF2B5EF4-FFF2-40B4-BE49-F238E27FC236}">
                <a16:creationId xmlns:a16="http://schemas.microsoft.com/office/drawing/2014/main" id="{3A9DFD93-ADF2-4AF2-84E5-C43CE467E0D6}"/>
              </a:ext>
            </a:extLst>
          </p:cNvPr>
          <p:cNvSpPr>
            <a:spLocks noGrp="1"/>
          </p:cNvSpPr>
          <p:nvPr/>
        </p:nvSpPr>
        <p:spPr>
          <a:xfrm>
            <a:off x="6700408" y="6149739"/>
            <a:ext cx="3967593" cy="2973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gültige Z3-Lösungen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B1E63B-7B0E-4920-C396-E0050DFD7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663347"/>
            <a:ext cx="10066873" cy="346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-60-42">
            <a:extLst>
              <a:ext uri="{FF2B5EF4-FFF2-40B4-BE49-F238E27FC236}">
                <a16:creationId xmlns:a16="http://schemas.microsoft.com/office/drawing/2014/main" id="{AB28AD91-BB41-480E-B4B1-C2384985110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C1FC2600-CAEA-4DDE-A252-AC7386E07206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" name="slide-12-title">
            <a:extLst>
              <a:ext uri="{FF2B5EF4-FFF2-40B4-BE49-F238E27FC236}">
                <a16:creationId xmlns:a16="http://schemas.microsoft.com/office/drawing/2014/main" id="{AD244EA5-AE4B-420D-8B6A-22CB702171FD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Die Resultate sprechen für einen hybriden Einsatz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D792442B-F804-4FBF-A0A3-B0FE1B905C4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-60-155">
            <a:extLst>
              <a:ext uri="{FF2B5EF4-FFF2-40B4-BE49-F238E27FC236}">
                <a16:creationId xmlns:a16="http://schemas.microsoft.com/office/drawing/2014/main" id="{32D89EC8-8421-46C1-AD7A-AF7F2593F960}"/>
              </a:ext>
            </a:extLst>
          </p:cNvPr>
          <p:cNvSpPr>
            <a:spLocks noGrp="1"/>
          </p:cNvSpPr>
          <p:nvPr/>
        </p:nvSpPr>
        <p:spPr>
          <a:xfrm>
            <a:off x="571500" y="1881868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Die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Heuristik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trifft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lokale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Entscheidungen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ohne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Rücksprung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 Z3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berücksichtigt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alle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Bedingungen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gleichzeitig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und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findet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eine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global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erfüllende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Belegung</a:t>
            </a:r>
            <a:r>
              <a:rPr sz="18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-292-360">
            <a:extLst>
              <a:ext uri="{FF2B5EF4-FFF2-40B4-BE49-F238E27FC236}">
                <a16:creationId xmlns:a16="http://schemas.microsoft.com/office/drawing/2014/main" id="{F9324232-CE78-4715-B21D-B9E584ED3100}"/>
              </a:ext>
            </a:extLst>
          </p:cNvPr>
          <p:cNvSpPr>
            <a:spLocks noGrp="1"/>
          </p:cNvSpPr>
          <p:nvPr/>
        </p:nvSpPr>
        <p:spPr>
          <a:xfrm>
            <a:off x="3303814" y="3973286"/>
            <a:ext cx="428625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rect-552-360">
            <a:extLst>
              <a:ext uri="{FF2B5EF4-FFF2-40B4-BE49-F238E27FC236}">
                <a16:creationId xmlns:a16="http://schemas.microsoft.com/office/drawing/2014/main" id="{2AC075A4-0ACB-40E9-AEDB-AB66FB7B0094}"/>
              </a:ext>
            </a:extLst>
          </p:cNvPr>
          <p:cNvSpPr>
            <a:spLocks noGrp="1"/>
          </p:cNvSpPr>
          <p:nvPr/>
        </p:nvSpPr>
        <p:spPr>
          <a:xfrm>
            <a:off x="5780314" y="3973286"/>
            <a:ext cx="428625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t-812-360">
            <a:extLst>
              <a:ext uri="{FF2B5EF4-FFF2-40B4-BE49-F238E27FC236}">
                <a16:creationId xmlns:a16="http://schemas.microsoft.com/office/drawing/2014/main" id="{D0391E58-94AF-4AF3-BAF8-94F2D1C33FF9}"/>
              </a:ext>
            </a:extLst>
          </p:cNvPr>
          <p:cNvSpPr>
            <a:spLocks noGrp="1"/>
          </p:cNvSpPr>
          <p:nvPr/>
        </p:nvSpPr>
        <p:spPr>
          <a:xfrm>
            <a:off x="8256814" y="3973286"/>
            <a:ext cx="428625" cy="228600"/>
          </a:xfrm>
          <a:prstGeom prst="rightArrow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rect-60-287">
            <a:extLst>
              <a:ext uri="{FF2B5EF4-FFF2-40B4-BE49-F238E27FC236}">
                <a16:creationId xmlns:a16="http://schemas.microsoft.com/office/drawing/2014/main" id="{4DDAD50E-5CC8-40AD-AD6C-09E2B20C5F0F}"/>
              </a:ext>
            </a:extLst>
          </p:cNvPr>
          <p:cNvSpPr>
            <a:spLocks noGrp="1"/>
          </p:cNvSpPr>
          <p:nvPr/>
        </p:nvSpPr>
        <p:spPr>
          <a:xfrm>
            <a:off x="1094014" y="3277961"/>
            <a:ext cx="2095500" cy="16192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-78-306">
            <a:extLst>
              <a:ext uri="{FF2B5EF4-FFF2-40B4-BE49-F238E27FC236}">
                <a16:creationId xmlns:a16="http://schemas.microsoft.com/office/drawing/2014/main" id="{2CE6F2AC-67A7-4240-8A32-AD1B2FADED3C}"/>
              </a:ext>
            </a:extLst>
          </p:cNvPr>
          <p:cNvSpPr>
            <a:spLocks noGrp="1"/>
          </p:cNvSpPr>
          <p:nvPr/>
        </p:nvSpPr>
        <p:spPr>
          <a:xfrm>
            <a:off x="1265464" y="3458936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-78-350">
            <a:extLst>
              <a:ext uri="{FF2B5EF4-FFF2-40B4-BE49-F238E27FC236}">
                <a16:creationId xmlns:a16="http://schemas.microsoft.com/office/drawing/2014/main" id="{03E05159-FC9D-45DF-9D74-8040E7CF3645}"/>
              </a:ext>
            </a:extLst>
          </p:cNvPr>
          <p:cNvSpPr>
            <a:spLocks noGrp="1"/>
          </p:cNvSpPr>
          <p:nvPr/>
        </p:nvSpPr>
        <p:spPr>
          <a:xfrm>
            <a:off x="1265464" y="3878036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Heuristik</a:t>
            </a:r>
          </a:p>
        </p:txBody>
      </p:sp>
      <p:sp>
        <p:nvSpPr>
          <p:cNvPr id="12" name="text-78-402">
            <a:extLst>
              <a:ext uri="{FF2B5EF4-FFF2-40B4-BE49-F238E27FC236}">
                <a16:creationId xmlns:a16="http://schemas.microsoft.com/office/drawing/2014/main" id="{A75EBC7C-6C0C-45B2-983C-E9D99D1847F2}"/>
              </a:ext>
            </a:extLst>
          </p:cNvPr>
          <p:cNvSpPr>
            <a:spLocks noGrp="1"/>
          </p:cNvSpPr>
          <p:nvPr/>
        </p:nvSpPr>
        <p:spPr>
          <a:xfrm>
            <a:off x="1265464" y="4373336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schneller erster Versuch</a:t>
            </a:r>
          </a:p>
        </p:txBody>
      </p:sp>
      <p:sp>
        <p:nvSpPr>
          <p:cNvPr id="13" name="rect-337-287">
            <a:extLst>
              <a:ext uri="{FF2B5EF4-FFF2-40B4-BE49-F238E27FC236}">
                <a16:creationId xmlns:a16="http://schemas.microsoft.com/office/drawing/2014/main" id="{E9074853-3246-460B-BED3-2EEECEB10642}"/>
              </a:ext>
            </a:extLst>
          </p:cNvPr>
          <p:cNvSpPr>
            <a:spLocks noGrp="1"/>
          </p:cNvSpPr>
          <p:nvPr/>
        </p:nvSpPr>
        <p:spPr>
          <a:xfrm>
            <a:off x="3732439" y="3277961"/>
            <a:ext cx="2095500" cy="1619250"/>
          </a:xfrm>
          <a:prstGeom prst="rect">
            <a:avLst/>
          </a:prstGeom>
          <a:solidFill>
            <a:srgbClr val="FFF7A8"/>
          </a:solidFill>
          <a:ln w="0">
            <a:solidFill>
              <a:srgbClr val="FFF7A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-355-306">
            <a:extLst>
              <a:ext uri="{FF2B5EF4-FFF2-40B4-BE49-F238E27FC236}">
                <a16:creationId xmlns:a16="http://schemas.microsoft.com/office/drawing/2014/main" id="{40F159D4-FCD4-4F71-961C-6E1D9BDC602C}"/>
              </a:ext>
            </a:extLst>
          </p:cNvPr>
          <p:cNvSpPr>
            <a:spLocks noGrp="1"/>
          </p:cNvSpPr>
          <p:nvPr/>
        </p:nvSpPr>
        <p:spPr>
          <a:xfrm>
            <a:off x="3903889" y="3458936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-355-350">
            <a:extLst>
              <a:ext uri="{FF2B5EF4-FFF2-40B4-BE49-F238E27FC236}">
                <a16:creationId xmlns:a16="http://schemas.microsoft.com/office/drawing/2014/main" id="{D15C4FC3-CB0C-4390-B88F-35BC379708FA}"/>
              </a:ext>
            </a:extLst>
          </p:cNvPr>
          <p:cNvSpPr>
            <a:spLocks noGrp="1"/>
          </p:cNvSpPr>
          <p:nvPr/>
        </p:nvSpPr>
        <p:spPr>
          <a:xfrm>
            <a:off x="3903889" y="3878036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Validieren</a:t>
            </a:r>
          </a:p>
        </p:txBody>
      </p:sp>
      <p:sp>
        <p:nvSpPr>
          <p:cNvPr id="16" name="text-355-402">
            <a:extLst>
              <a:ext uri="{FF2B5EF4-FFF2-40B4-BE49-F238E27FC236}">
                <a16:creationId xmlns:a16="http://schemas.microsoft.com/office/drawing/2014/main" id="{DFD57026-F3B9-4FEB-8775-00B7BB5C6A83}"/>
              </a:ext>
            </a:extLst>
          </p:cNvPr>
          <p:cNvSpPr>
            <a:spLocks noGrp="1"/>
          </p:cNvSpPr>
          <p:nvPr/>
        </p:nvSpPr>
        <p:spPr>
          <a:xfrm>
            <a:off x="3903889" y="4373336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alle ALLOW/DENY prüfen</a:t>
            </a:r>
          </a:p>
        </p:txBody>
      </p:sp>
      <p:sp>
        <p:nvSpPr>
          <p:cNvPr id="17" name="rect-597-287">
            <a:extLst>
              <a:ext uri="{FF2B5EF4-FFF2-40B4-BE49-F238E27FC236}">
                <a16:creationId xmlns:a16="http://schemas.microsoft.com/office/drawing/2014/main" id="{BE1EA9CD-215A-4702-8719-8C1AA7FC9FD8}"/>
              </a:ext>
            </a:extLst>
          </p:cNvPr>
          <p:cNvSpPr>
            <a:spLocks noGrp="1"/>
          </p:cNvSpPr>
          <p:nvPr/>
        </p:nvSpPr>
        <p:spPr>
          <a:xfrm>
            <a:off x="6208939" y="3277961"/>
            <a:ext cx="2095500" cy="16192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-615-306">
            <a:extLst>
              <a:ext uri="{FF2B5EF4-FFF2-40B4-BE49-F238E27FC236}">
                <a16:creationId xmlns:a16="http://schemas.microsoft.com/office/drawing/2014/main" id="{F1C955CC-5712-4529-9BEC-2258D5805A15}"/>
              </a:ext>
            </a:extLst>
          </p:cNvPr>
          <p:cNvSpPr>
            <a:spLocks noGrp="1"/>
          </p:cNvSpPr>
          <p:nvPr/>
        </p:nvSpPr>
        <p:spPr>
          <a:xfrm>
            <a:off x="6380389" y="3458936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-615-350">
            <a:extLst>
              <a:ext uri="{FF2B5EF4-FFF2-40B4-BE49-F238E27FC236}">
                <a16:creationId xmlns:a16="http://schemas.microsoft.com/office/drawing/2014/main" id="{360DC0A9-1E75-4876-9F5C-B9B0C7049D65}"/>
              </a:ext>
            </a:extLst>
          </p:cNvPr>
          <p:cNvSpPr>
            <a:spLocks noGrp="1"/>
          </p:cNvSpPr>
          <p:nvPr/>
        </p:nvSpPr>
        <p:spPr>
          <a:xfrm>
            <a:off x="6380389" y="3878036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Gültig?</a:t>
            </a:r>
          </a:p>
        </p:txBody>
      </p:sp>
      <p:sp>
        <p:nvSpPr>
          <p:cNvPr id="20" name="text-615-402">
            <a:extLst>
              <a:ext uri="{FF2B5EF4-FFF2-40B4-BE49-F238E27FC236}">
                <a16:creationId xmlns:a16="http://schemas.microsoft.com/office/drawing/2014/main" id="{2527A41F-A4AD-45F8-B1FB-91EC3636243A}"/>
              </a:ext>
            </a:extLst>
          </p:cNvPr>
          <p:cNvSpPr>
            <a:spLocks noGrp="1"/>
          </p:cNvSpPr>
          <p:nvPr/>
        </p:nvSpPr>
        <p:spPr>
          <a:xfrm>
            <a:off x="6380389" y="4373336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Ja: Ergebnis übernehmen</a:t>
            </a:r>
          </a:p>
        </p:txBody>
      </p:sp>
      <p:sp>
        <p:nvSpPr>
          <p:cNvPr id="21" name="rect-857-287">
            <a:extLst>
              <a:ext uri="{FF2B5EF4-FFF2-40B4-BE49-F238E27FC236}">
                <a16:creationId xmlns:a16="http://schemas.microsoft.com/office/drawing/2014/main" id="{6FEFB881-DC58-432A-8267-9B886275BE88}"/>
              </a:ext>
            </a:extLst>
          </p:cNvPr>
          <p:cNvSpPr>
            <a:spLocks noGrp="1"/>
          </p:cNvSpPr>
          <p:nvPr/>
        </p:nvSpPr>
        <p:spPr>
          <a:xfrm>
            <a:off x="8685439" y="3277961"/>
            <a:ext cx="2095500" cy="16192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-875-306">
            <a:extLst>
              <a:ext uri="{FF2B5EF4-FFF2-40B4-BE49-F238E27FC236}">
                <a16:creationId xmlns:a16="http://schemas.microsoft.com/office/drawing/2014/main" id="{46C43374-4D54-41AC-917C-3F667F4520E9}"/>
              </a:ext>
            </a:extLst>
          </p:cNvPr>
          <p:cNvSpPr>
            <a:spLocks noGrp="1"/>
          </p:cNvSpPr>
          <p:nvPr/>
        </p:nvSpPr>
        <p:spPr>
          <a:xfrm>
            <a:off x="8856889" y="3458936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FDE70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DE70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text-875-350">
            <a:extLst>
              <a:ext uri="{FF2B5EF4-FFF2-40B4-BE49-F238E27FC236}">
                <a16:creationId xmlns:a16="http://schemas.microsoft.com/office/drawing/2014/main" id="{9D08D4F4-7116-4D20-91DA-D0C56CA32FA7}"/>
              </a:ext>
            </a:extLst>
          </p:cNvPr>
          <p:cNvSpPr>
            <a:spLocks noGrp="1"/>
          </p:cNvSpPr>
          <p:nvPr/>
        </p:nvSpPr>
        <p:spPr>
          <a:xfrm>
            <a:off x="8856889" y="3878036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Fallback Z3</a:t>
            </a:r>
          </a:p>
        </p:txBody>
      </p:sp>
      <p:sp>
        <p:nvSpPr>
          <p:cNvPr id="24" name="text-875-402">
            <a:extLst>
              <a:ext uri="{FF2B5EF4-FFF2-40B4-BE49-F238E27FC236}">
                <a16:creationId xmlns:a16="http://schemas.microsoft.com/office/drawing/2014/main" id="{7C4D4E3B-E45D-4424-91DA-12042E450B62}"/>
              </a:ext>
            </a:extLst>
          </p:cNvPr>
          <p:cNvSpPr>
            <a:spLocks noGrp="1"/>
          </p:cNvSpPr>
          <p:nvPr/>
        </p:nvSpPr>
        <p:spPr>
          <a:xfrm>
            <a:off x="8856889" y="4373336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Nein: global neu lösen</a:t>
            </a:r>
          </a:p>
        </p:txBody>
      </p:sp>
    </p:spTree>
    <p:extLst>
      <p:ext uri="{BB962C8B-B14F-4D97-AF65-F5344CB8AC3E}">
        <p14:creationId xmlns:p14="http://schemas.microsoft.com/office/powerpoint/2010/main" val="125815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-60-42">
            <a:extLst>
              <a:ext uri="{FF2B5EF4-FFF2-40B4-BE49-F238E27FC236}">
                <a16:creationId xmlns:a16="http://schemas.microsoft.com/office/drawing/2014/main" id="{C9DE958A-EEA8-450D-8385-3F2BEA2B455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36C845F8-150D-42EF-962D-ABE0F250455C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GRENZEN</a:t>
            </a:r>
          </a:p>
        </p:txBody>
      </p:sp>
      <p:sp>
        <p:nvSpPr>
          <p:cNvPr id="3" name="slide-14-title">
            <a:extLst>
              <a:ext uri="{FF2B5EF4-FFF2-40B4-BE49-F238E27FC236}">
                <a16:creationId xmlns:a16="http://schemas.microsoft.com/office/drawing/2014/main" id="{11009DFD-BB9C-449A-A697-686367BDD1E7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Die Resultate gelten für ein vereinfachtes Modell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BE9D9467-99D7-41D6-9561-A085A7ED1DA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ct-60-170">
            <a:extLst>
              <a:ext uri="{FF2B5EF4-FFF2-40B4-BE49-F238E27FC236}">
                <a16:creationId xmlns:a16="http://schemas.microsoft.com/office/drawing/2014/main" id="{56CE8C1D-6BBA-4A97-A3E7-197D686747F6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5048250" cy="1666875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-88-198">
            <a:extLst>
              <a:ext uri="{FF2B5EF4-FFF2-40B4-BE49-F238E27FC236}">
                <a16:creationId xmlns:a16="http://schemas.microsoft.com/office/drawing/2014/main" id="{DA2BC211-0A30-46BC-A267-BD002C117ECE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Statischer Digital Twin</a:t>
            </a:r>
          </a:p>
        </p:txBody>
      </p:sp>
      <p:sp>
        <p:nvSpPr>
          <p:cNvPr id="7" name="text-88-252">
            <a:extLst>
              <a:ext uri="{FF2B5EF4-FFF2-40B4-BE49-F238E27FC236}">
                <a16:creationId xmlns:a16="http://schemas.microsoft.com/office/drawing/2014/main" id="{DDEA107B-1FC3-4D76-AA2A-E6B7AE14F989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4514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Keine dynamischen Routen, Ausfälle oder laufenden Topologieänderungen.</a:t>
            </a:r>
          </a:p>
        </p:txBody>
      </p:sp>
      <p:sp>
        <p:nvSpPr>
          <p:cNvPr id="8" name="rect-650-170">
            <a:extLst>
              <a:ext uri="{FF2B5EF4-FFF2-40B4-BE49-F238E27FC236}">
                <a16:creationId xmlns:a16="http://schemas.microsoft.com/office/drawing/2014/main" id="{3DFA2517-A94B-4199-9AB1-447B281FD8C1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048250" cy="1666875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-678-198">
            <a:extLst>
              <a:ext uri="{FF2B5EF4-FFF2-40B4-BE49-F238E27FC236}">
                <a16:creationId xmlns:a16="http://schemas.microsoft.com/office/drawing/2014/main" id="{55805FCE-D7DB-4CAB-B81A-E2478F4628E5}"/>
              </a:ext>
            </a:extLst>
          </p:cNvPr>
          <p:cNvSpPr>
            <a:spLocks noGrp="1"/>
          </p:cNvSpPr>
          <p:nvPr/>
        </p:nvSpPr>
        <p:spPr>
          <a:xfrm>
            <a:off x="6457950" y="188595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VLAN-basierte Umsetzung</a:t>
            </a:r>
          </a:p>
        </p:txBody>
      </p:sp>
      <p:sp>
        <p:nvSpPr>
          <p:cNvPr id="10" name="text-678-252">
            <a:extLst>
              <a:ext uri="{FF2B5EF4-FFF2-40B4-BE49-F238E27FC236}">
                <a16:creationId xmlns:a16="http://schemas.microsoft.com/office/drawing/2014/main" id="{ABD9EF12-97BE-4DC7-B502-2F66DDE3D95B}"/>
              </a:ext>
            </a:extLst>
          </p:cNvPr>
          <p:cNvSpPr>
            <a:spLocks noGrp="1"/>
          </p:cNvSpPr>
          <p:nvPr/>
        </p:nvSpPr>
        <p:spPr>
          <a:xfrm>
            <a:off x="6457950" y="2400300"/>
            <a:ext cx="4514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Keine Ports, Protokolle, Security Groups oder Identitäten.</a:t>
            </a:r>
          </a:p>
        </p:txBody>
      </p:sp>
      <p:sp>
        <p:nvSpPr>
          <p:cNvPr id="11" name="rect-60-390">
            <a:extLst>
              <a:ext uri="{FF2B5EF4-FFF2-40B4-BE49-F238E27FC236}">
                <a16:creationId xmlns:a16="http://schemas.microsoft.com/office/drawing/2014/main" id="{E00DD517-C82B-4EFC-81F6-B9AFF2058F6C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5048250" cy="1666875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-88-418">
            <a:extLst>
              <a:ext uri="{FF2B5EF4-FFF2-40B4-BE49-F238E27FC236}">
                <a16:creationId xmlns:a16="http://schemas.microsoft.com/office/drawing/2014/main" id="{75A2DD20-937A-4F50-A07C-67CCC6CD045B}"/>
              </a:ext>
            </a:extLst>
          </p:cNvPr>
          <p:cNvSpPr>
            <a:spLocks noGrp="1"/>
          </p:cNvSpPr>
          <p:nvPr/>
        </p:nvSpPr>
        <p:spPr>
          <a:xfrm>
            <a:off x="838200" y="398145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Synthetische SAT-Szenarien</a:t>
            </a:r>
          </a:p>
        </p:txBody>
      </p:sp>
      <p:sp>
        <p:nvSpPr>
          <p:cNvPr id="13" name="text-88-472">
            <a:extLst>
              <a:ext uri="{FF2B5EF4-FFF2-40B4-BE49-F238E27FC236}">
                <a16:creationId xmlns:a16="http://schemas.microsoft.com/office/drawing/2014/main" id="{3A2AD2AC-04B9-47FD-90B9-9CA9C8889DD0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4514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Keine realen Unternehmensnetze und keine systematische UNSAT-Evaluation.</a:t>
            </a:r>
          </a:p>
        </p:txBody>
      </p:sp>
      <p:sp>
        <p:nvSpPr>
          <p:cNvPr id="14" name="rect-650-390">
            <a:extLst>
              <a:ext uri="{FF2B5EF4-FFF2-40B4-BE49-F238E27FC236}">
                <a16:creationId xmlns:a16="http://schemas.microsoft.com/office/drawing/2014/main" id="{1055985D-8415-436C-A660-C2F93B42C98A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5048250" cy="1666875"/>
          </a:xfrm>
          <a:prstGeom prst="rect">
            <a:avLst/>
          </a:prstGeom>
          <a:solidFill>
            <a:srgbClr val="FFF7A8"/>
          </a:solidFill>
          <a:ln w="0">
            <a:solidFill>
              <a:srgbClr val="FFF7A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-678-418">
            <a:extLst>
              <a:ext uri="{FF2B5EF4-FFF2-40B4-BE49-F238E27FC236}">
                <a16:creationId xmlns:a16="http://schemas.microsoft.com/office/drawing/2014/main" id="{289F47A8-E3B3-4804-A647-012F641A0052}"/>
              </a:ext>
            </a:extLst>
          </p:cNvPr>
          <p:cNvSpPr>
            <a:spLocks noGrp="1"/>
          </p:cNvSpPr>
          <p:nvPr/>
        </p:nvSpPr>
        <p:spPr>
          <a:xfrm>
            <a:off x="6457950" y="398145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Gruppen nicht evaluiert</a:t>
            </a:r>
          </a:p>
        </p:txBody>
      </p:sp>
      <p:sp>
        <p:nvSpPr>
          <p:cNvPr id="16" name="text-678-472">
            <a:extLst>
              <a:ext uri="{FF2B5EF4-FFF2-40B4-BE49-F238E27FC236}">
                <a16:creationId xmlns:a16="http://schemas.microsoft.com/office/drawing/2014/main" id="{6BAE6AB5-5BC9-4B5A-91C7-8F631F7DAC81}"/>
              </a:ext>
            </a:extLst>
          </p:cNvPr>
          <p:cNvSpPr>
            <a:spLocks noGrp="1"/>
          </p:cNvSpPr>
          <p:nvPr/>
        </p:nvSpPr>
        <p:spPr>
          <a:xfrm>
            <a:off x="6457950" y="4495800"/>
            <a:ext cx="4514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Paarweise Expansion erzeugt nahezu quadratisch wachsende Constraints und würde den Verfahrensvergleich verzerren.</a:t>
            </a:r>
          </a:p>
        </p:txBody>
      </p:sp>
    </p:spTree>
    <p:extLst>
      <p:ext uri="{BB962C8B-B14F-4D97-AF65-F5344CB8AC3E}">
        <p14:creationId xmlns:p14="http://schemas.microsoft.com/office/powerpoint/2010/main" val="159466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-60-42">
            <a:extLst>
              <a:ext uri="{FF2B5EF4-FFF2-40B4-BE49-F238E27FC236}">
                <a16:creationId xmlns:a16="http://schemas.microsoft.com/office/drawing/2014/main" id="{122C07A2-409A-4A74-8D3D-02B686BAA8B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704850" cy="857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0-60">
            <a:extLst>
              <a:ext uri="{FF2B5EF4-FFF2-40B4-BE49-F238E27FC236}">
                <a16:creationId xmlns:a16="http://schemas.microsoft.com/office/drawing/2014/main" id="{060163AB-4363-4079-96DE-18762D33CB39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ANTWORT</a:t>
            </a:r>
          </a:p>
        </p:txBody>
      </p:sp>
      <p:sp>
        <p:nvSpPr>
          <p:cNvPr id="3" name="slide-15-title">
            <a:extLst>
              <a:ext uri="{FF2B5EF4-FFF2-40B4-BE49-F238E27FC236}">
                <a16:creationId xmlns:a16="http://schemas.microsoft.com/office/drawing/2014/main" id="{15D866D1-B24D-48B2-871F-0C716B29EB68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Die Forschungsfrage wird positiv beantwortet</a:t>
            </a:r>
          </a:p>
        </p:txBody>
      </p:sp>
      <p:sp>
        <p:nvSpPr>
          <p:cNvPr id="4" name="text-1180-670">
            <a:extLst>
              <a:ext uri="{FF2B5EF4-FFF2-40B4-BE49-F238E27FC236}">
                <a16:creationId xmlns:a16="http://schemas.microsoft.com/office/drawing/2014/main" id="{D2F20905-32C2-488A-9BA1-695A79D8BC7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ct-60-160">
            <a:extLst>
              <a:ext uri="{FF2B5EF4-FFF2-40B4-BE49-F238E27FC236}">
                <a16:creationId xmlns:a16="http://schemas.microsoft.com/office/drawing/2014/main" id="{A326CC84-29AA-4BC1-B69D-3CC687589B7D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11049000" cy="176212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-105-205">
            <a:extLst>
              <a:ext uri="{FF2B5EF4-FFF2-40B4-BE49-F238E27FC236}">
                <a16:creationId xmlns:a16="http://schemas.microsoft.com/office/drawing/2014/main" id="{1B796711-C3AD-4875-B04A-09BD3C5E9463}"/>
              </a:ext>
            </a:extLst>
          </p:cNvPr>
          <p:cNvSpPr>
            <a:spLocks noGrp="1"/>
          </p:cNvSpPr>
          <p:nvPr/>
        </p:nvSpPr>
        <p:spPr>
          <a:xfrm>
            <a:off x="1000125" y="1800225"/>
            <a:ext cx="10191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Automatisierte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Microsegmentierung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lässt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sich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aus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einem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graphbasierten Digital Twin und High-Level-Constraints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ableiten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sofern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Topologie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und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Kommunikationsanforderungen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ausreichend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vollständig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modelliert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sind</a:t>
            </a:r>
            <a:r>
              <a:rPr sz="21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rect-60-395">
            <a:extLst>
              <a:ext uri="{FF2B5EF4-FFF2-40B4-BE49-F238E27FC236}">
                <a16:creationId xmlns:a16="http://schemas.microsoft.com/office/drawing/2014/main" id="{8198C5A9-1D14-4304-B8C7-098B03972E02}"/>
              </a:ext>
            </a:extLst>
          </p:cNvPr>
          <p:cNvSpPr>
            <a:spLocks noGrp="1"/>
          </p:cNvSpPr>
          <p:nvPr/>
        </p:nvSpPr>
        <p:spPr>
          <a:xfrm>
            <a:off x="571500" y="3762375"/>
            <a:ext cx="333375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rect-60-395">
            <a:extLst>
              <a:ext uri="{FF2B5EF4-FFF2-40B4-BE49-F238E27FC236}">
                <a16:creationId xmlns:a16="http://schemas.microsoft.com/office/drawing/2014/main" id="{1BFFE91B-B06E-48AC-940E-CE46890FFA13}"/>
              </a:ext>
            </a:extLst>
          </p:cNvPr>
          <p:cNvSpPr>
            <a:spLocks noGrp="1"/>
          </p:cNvSpPr>
          <p:nvPr/>
        </p:nvSpPr>
        <p:spPr>
          <a:xfrm>
            <a:off x="571500" y="3762375"/>
            <a:ext cx="3333750" cy="76200"/>
          </a:xfrm>
          <a:prstGeom prst="rect">
            <a:avLst/>
          </a:prstGeom>
          <a:solidFill>
            <a:srgbClr val="27833A"/>
          </a:solidFill>
          <a:ln w="0">
            <a:solidFill>
              <a:srgbClr val="27833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-82-430">
            <a:extLst>
              <a:ext uri="{FF2B5EF4-FFF2-40B4-BE49-F238E27FC236}">
                <a16:creationId xmlns:a16="http://schemas.microsoft.com/office/drawing/2014/main" id="{7127A049-A5B7-4812-863F-C55A394F134B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/ 72</a:t>
            </a:r>
          </a:p>
        </p:txBody>
      </p:sp>
      <p:sp>
        <p:nvSpPr>
          <p:cNvPr id="10" name="text-82-503">
            <a:extLst>
              <a:ext uri="{FF2B5EF4-FFF2-40B4-BE49-F238E27FC236}">
                <a16:creationId xmlns:a16="http://schemas.microsoft.com/office/drawing/2014/main" id="{33F3C24D-80CF-4ADB-9BBD-5D82EE57D1A3}"/>
              </a:ext>
            </a:extLst>
          </p:cNvPr>
          <p:cNvSpPr>
            <a:spLocks noGrp="1"/>
          </p:cNvSpPr>
          <p:nvPr/>
        </p:nvSpPr>
        <p:spPr>
          <a:xfrm>
            <a:off x="781050" y="4791075"/>
            <a:ext cx="2914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Z3 gültig</a:t>
            </a:r>
          </a:p>
        </p:txBody>
      </p:sp>
      <p:sp>
        <p:nvSpPr>
          <p:cNvPr id="11" name="text-82-552">
            <a:extLst>
              <a:ext uri="{FF2B5EF4-FFF2-40B4-BE49-F238E27FC236}">
                <a16:creationId xmlns:a16="http://schemas.microsoft.com/office/drawing/2014/main" id="{0D090AAC-0475-4053-9054-C2DAE91DF1AF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914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für alle untersuchten SAT-Instanzen</a:t>
            </a:r>
          </a:p>
        </p:txBody>
      </p:sp>
      <p:sp>
        <p:nvSpPr>
          <p:cNvPr id="12" name="rect-465-395">
            <a:extLst>
              <a:ext uri="{FF2B5EF4-FFF2-40B4-BE49-F238E27FC236}">
                <a16:creationId xmlns:a16="http://schemas.microsoft.com/office/drawing/2014/main" id="{A9CD6E9F-E0D9-467D-924A-6A1EEE3CEC22}"/>
              </a:ext>
            </a:extLst>
          </p:cNvPr>
          <p:cNvSpPr>
            <a:spLocks noGrp="1"/>
          </p:cNvSpPr>
          <p:nvPr/>
        </p:nvSpPr>
        <p:spPr>
          <a:xfrm>
            <a:off x="4429125" y="3762375"/>
            <a:ext cx="333375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rect-465-395">
            <a:extLst>
              <a:ext uri="{FF2B5EF4-FFF2-40B4-BE49-F238E27FC236}">
                <a16:creationId xmlns:a16="http://schemas.microsoft.com/office/drawing/2014/main" id="{CE110DFC-9848-4D57-BB6C-5DC2D68F14CD}"/>
              </a:ext>
            </a:extLst>
          </p:cNvPr>
          <p:cNvSpPr>
            <a:spLocks noGrp="1"/>
          </p:cNvSpPr>
          <p:nvPr/>
        </p:nvSpPr>
        <p:spPr>
          <a:xfrm>
            <a:off x="4429125" y="3762375"/>
            <a:ext cx="3333750" cy="76200"/>
          </a:xfrm>
          <a:prstGeom prst="rect">
            <a:avLst/>
          </a:prstGeom>
          <a:solidFill>
            <a:srgbClr val="DF305B"/>
          </a:solidFill>
          <a:ln w="0">
            <a:solidFill>
              <a:srgbClr val="DF305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-487-430">
            <a:extLst>
              <a:ext uri="{FF2B5EF4-FFF2-40B4-BE49-F238E27FC236}">
                <a16:creationId xmlns:a16="http://schemas.microsoft.com/office/drawing/2014/main" id="{5EEAEED7-3202-4A38-AEF1-EF3B8F1DB2FB}"/>
              </a:ext>
            </a:extLst>
          </p:cNvPr>
          <p:cNvSpPr>
            <a:spLocks noGrp="1"/>
          </p:cNvSpPr>
          <p:nvPr/>
        </p:nvSpPr>
        <p:spPr>
          <a:xfrm>
            <a:off x="4638675" y="4095750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33 / 72</a:t>
            </a:r>
          </a:p>
        </p:txBody>
      </p:sp>
      <p:sp>
        <p:nvSpPr>
          <p:cNvPr id="15" name="text-487-503">
            <a:extLst>
              <a:ext uri="{FF2B5EF4-FFF2-40B4-BE49-F238E27FC236}">
                <a16:creationId xmlns:a16="http://schemas.microsoft.com/office/drawing/2014/main" id="{C4831FA7-7545-409A-A281-9DC0341A43E0}"/>
              </a:ext>
            </a:extLst>
          </p:cNvPr>
          <p:cNvSpPr>
            <a:spLocks noGrp="1"/>
          </p:cNvSpPr>
          <p:nvPr/>
        </p:nvSpPr>
        <p:spPr>
          <a:xfrm>
            <a:off x="4638675" y="4791075"/>
            <a:ext cx="2914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Heuristik gültig</a:t>
            </a:r>
          </a:p>
        </p:txBody>
      </p:sp>
      <p:sp>
        <p:nvSpPr>
          <p:cNvPr id="16" name="text-487-552">
            <a:extLst>
              <a:ext uri="{FF2B5EF4-FFF2-40B4-BE49-F238E27FC236}">
                <a16:creationId xmlns:a16="http://schemas.microsoft.com/office/drawing/2014/main" id="{433324EE-8A4A-4DC5-9A07-062755454D31}"/>
              </a:ext>
            </a:extLst>
          </p:cNvPr>
          <p:cNvSpPr>
            <a:spLocks noGrp="1"/>
          </p:cNvSpPr>
          <p:nvPr/>
        </p:nvSpPr>
        <p:spPr>
          <a:xfrm>
            <a:off x="4638675" y="5257800"/>
            <a:ext cx="2914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schnell, aber dichteabhängig</a:t>
            </a:r>
          </a:p>
        </p:txBody>
      </p:sp>
      <p:sp>
        <p:nvSpPr>
          <p:cNvPr id="17" name="rect-870-395">
            <a:extLst>
              <a:ext uri="{FF2B5EF4-FFF2-40B4-BE49-F238E27FC236}">
                <a16:creationId xmlns:a16="http://schemas.microsoft.com/office/drawing/2014/main" id="{17979550-0ED1-4145-BDBA-2867CFB6B94B}"/>
              </a:ext>
            </a:extLst>
          </p:cNvPr>
          <p:cNvSpPr>
            <a:spLocks noGrp="1"/>
          </p:cNvSpPr>
          <p:nvPr/>
        </p:nvSpPr>
        <p:spPr>
          <a:xfrm>
            <a:off x="8286750" y="3762375"/>
            <a:ext cx="3333750" cy="2190750"/>
          </a:xfrm>
          <a:prstGeom prst="rect">
            <a:avLst/>
          </a:prstGeom>
          <a:solidFill>
            <a:srgbClr val="F1F1EE"/>
          </a:solidFill>
          <a:ln w="0">
            <a:solidFill>
              <a:srgbClr val="F1F1E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rect-870-395">
            <a:extLst>
              <a:ext uri="{FF2B5EF4-FFF2-40B4-BE49-F238E27FC236}">
                <a16:creationId xmlns:a16="http://schemas.microsoft.com/office/drawing/2014/main" id="{EB203319-4E36-4F5E-A405-C19CA82E8410}"/>
              </a:ext>
            </a:extLst>
          </p:cNvPr>
          <p:cNvSpPr>
            <a:spLocks noGrp="1"/>
          </p:cNvSpPr>
          <p:nvPr/>
        </p:nvSpPr>
        <p:spPr>
          <a:xfrm>
            <a:off x="8286750" y="3762375"/>
            <a:ext cx="3333750" cy="762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-892-430">
            <a:extLst>
              <a:ext uri="{FF2B5EF4-FFF2-40B4-BE49-F238E27FC236}">
                <a16:creationId xmlns:a16="http://schemas.microsoft.com/office/drawing/2014/main" id="{116C1B89-3230-4758-B015-684859867FCA}"/>
              </a:ext>
            </a:extLst>
          </p:cNvPr>
          <p:cNvSpPr>
            <a:spLocks noGrp="1"/>
          </p:cNvSpPr>
          <p:nvPr/>
        </p:nvSpPr>
        <p:spPr>
          <a:xfrm>
            <a:off x="8496300" y="4095750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 1 s</a:t>
            </a:r>
          </a:p>
        </p:txBody>
      </p:sp>
      <p:sp>
        <p:nvSpPr>
          <p:cNvPr id="20" name="text-892-503">
            <a:extLst>
              <a:ext uri="{FF2B5EF4-FFF2-40B4-BE49-F238E27FC236}">
                <a16:creationId xmlns:a16="http://schemas.microsoft.com/office/drawing/2014/main" id="{D78CF057-E4E8-4B5D-946F-B6EAC13B9586}"/>
              </a:ext>
            </a:extLst>
          </p:cNvPr>
          <p:cNvSpPr>
            <a:spLocks noGrp="1"/>
          </p:cNvSpPr>
          <p:nvPr/>
        </p:nvSpPr>
        <p:spPr>
          <a:xfrm>
            <a:off x="8496300" y="4791075"/>
            <a:ext cx="2914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Solver-Laufzeit</a:t>
            </a:r>
          </a:p>
        </p:txBody>
      </p:sp>
      <p:sp>
        <p:nvSpPr>
          <p:cNvPr id="21" name="text-892-552">
            <a:extLst>
              <a:ext uri="{FF2B5EF4-FFF2-40B4-BE49-F238E27FC236}">
                <a16:creationId xmlns:a16="http://schemas.microsoft.com/office/drawing/2014/main" id="{F7248683-BDEE-4B64-B4F0-F1231F253163}"/>
              </a:ext>
            </a:extLst>
          </p:cNvPr>
          <p:cNvSpPr>
            <a:spLocks noGrp="1"/>
          </p:cNvSpPr>
          <p:nvPr/>
        </p:nvSpPr>
        <p:spPr>
          <a:xfrm>
            <a:off x="8496300" y="5257800"/>
            <a:ext cx="2914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auch im grössten untersuchten Fall</a:t>
            </a:r>
          </a:p>
        </p:txBody>
      </p:sp>
    </p:spTree>
    <p:extLst>
      <p:ext uri="{BB962C8B-B14F-4D97-AF65-F5344CB8AC3E}">
        <p14:creationId xmlns:p14="http://schemas.microsoft.com/office/powerpoint/2010/main" val="182878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-0-0">
            <a:extLst>
              <a:ext uri="{FF2B5EF4-FFF2-40B4-BE49-F238E27FC236}">
                <a16:creationId xmlns:a16="http://schemas.microsoft.com/office/drawing/2014/main" id="{A1B9AACB-C5EF-4D74-AEFC-814B517D6B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" name="text-68-58">
            <a:extLst>
              <a:ext uri="{FF2B5EF4-FFF2-40B4-BE49-F238E27FC236}">
                <a16:creationId xmlns:a16="http://schemas.microsoft.com/office/drawing/2014/main" id="{0AB487EF-0990-4EB0-B93C-8F24D7A36984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SCHLUSSFOLGERUNG</a:t>
            </a:r>
          </a:p>
        </p:txBody>
      </p:sp>
      <p:sp>
        <p:nvSpPr>
          <p:cNvPr id="3" name="text-68-128">
            <a:extLst>
              <a:ext uri="{FF2B5EF4-FFF2-40B4-BE49-F238E27FC236}">
                <a16:creationId xmlns:a16="http://schemas.microsoft.com/office/drawing/2014/main" id="{F76D19CF-579E-4E9F-B940-2948A597BBEF}"/>
              </a:ext>
            </a:extLst>
          </p:cNvPr>
          <p:cNvSpPr>
            <a:spLocks noGrp="1"/>
          </p:cNvSpPr>
          <p:nvPr/>
        </p:nvSpPr>
        <p:spPr>
          <a:xfrm>
            <a:off x="647700" y="1219200"/>
            <a:ext cx="1000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Formale Zuverlässigkeit schlägt lokale Geschwindigkeit, sobald Regeln komplex werden.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" y="2952750"/>
            <a:ext cx="10191750" cy="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sp>
        <p:nvSpPr>
          <p:cNvPr id="5" name="text-68-360">
            <a:extLst>
              <a:ext uri="{FF2B5EF4-FFF2-40B4-BE49-F238E27FC236}">
                <a16:creationId xmlns:a16="http://schemas.microsoft.com/office/drawing/2014/main" id="{5F00E578-55CC-4031-ABC4-F17071818052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-125-360">
            <a:extLst>
              <a:ext uri="{FF2B5EF4-FFF2-40B4-BE49-F238E27FC236}">
                <a16:creationId xmlns:a16="http://schemas.microsoft.com/office/drawing/2014/main" id="{123DC065-1543-4B74-AD70-ED963ABC3BF8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876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Der Digital Twin macht Topologie algorithmisch nutzbar.</a:t>
            </a:r>
          </a:p>
        </p:txBody>
      </p:sp>
      <p:sp>
        <p:nvSpPr>
          <p:cNvPr id="7" name="text-68-430">
            <a:extLst>
              <a:ext uri="{FF2B5EF4-FFF2-40B4-BE49-F238E27FC236}">
                <a16:creationId xmlns:a16="http://schemas.microsoft.com/office/drawing/2014/main" id="{9ECCA70F-7539-472E-BE99-E0D6A2545920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text-125-430">
            <a:extLst>
              <a:ext uri="{FF2B5EF4-FFF2-40B4-BE49-F238E27FC236}">
                <a16:creationId xmlns:a16="http://schemas.microsoft.com/office/drawing/2014/main" id="{83C8373A-0F45-4B04-A721-55F9C2ABC464}"/>
              </a:ext>
            </a:extLst>
          </p:cNvPr>
          <p:cNvSpPr>
            <a:spLocks noGrp="1"/>
          </p:cNvSpPr>
          <p:nvPr/>
        </p:nvSpPr>
        <p:spPr>
          <a:xfrm>
            <a:off x="1190625" y="409575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ALLOW/DENY übersetzen Security Intent in prüfbare Bedingungen.</a:t>
            </a:r>
          </a:p>
        </p:txBody>
      </p:sp>
      <p:sp>
        <p:nvSpPr>
          <p:cNvPr id="9" name="text-68-500">
            <a:extLst>
              <a:ext uri="{FF2B5EF4-FFF2-40B4-BE49-F238E27FC236}">
                <a16:creationId xmlns:a16="http://schemas.microsoft.com/office/drawing/2014/main" id="{A2A77B55-EDAD-433A-B9B2-FFD14AFBD520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text-125-500">
            <a:extLst>
              <a:ext uri="{FF2B5EF4-FFF2-40B4-BE49-F238E27FC236}">
                <a16:creationId xmlns:a16="http://schemas.microsoft.com/office/drawing/2014/main" id="{2E681C37-72E6-4EDB-9EC4-40C50B3EEE44}"/>
              </a:ext>
            </a:extLst>
          </p:cNvPr>
          <p:cNvSpPr>
            <a:spLocks noGrp="1"/>
          </p:cNvSpPr>
          <p:nvPr/>
        </p:nvSpPr>
        <p:spPr>
          <a:xfrm>
            <a:off x="1190625" y="47625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Ein hybrider Ansatz verbindet schnelle Vorberechnung mit Solver-Fallback.</a:t>
            </a:r>
          </a:p>
        </p:txBody>
      </p:sp>
      <p:sp>
        <p:nvSpPr>
          <p:cNvPr id="11" name="rect-930-595">
            <a:extLst>
              <a:ext uri="{FF2B5EF4-FFF2-40B4-BE49-F238E27FC236}">
                <a16:creationId xmlns:a16="http://schemas.microsoft.com/office/drawing/2014/main" id="{3F844F63-332A-490A-AE54-B633D3C7CC86}"/>
              </a:ext>
            </a:extLst>
          </p:cNvPr>
          <p:cNvSpPr>
            <a:spLocks noGrp="1"/>
          </p:cNvSpPr>
          <p:nvPr/>
        </p:nvSpPr>
        <p:spPr>
          <a:xfrm>
            <a:off x="8858250" y="5667375"/>
            <a:ext cx="2571750" cy="638175"/>
          </a:xfrm>
          <a:prstGeom prst="rect">
            <a:avLst/>
          </a:prstGeom>
          <a:solidFill>
            <a:srgbClr val="FDE70E"/>
          </a:solidFill>
          <a:ln w="0">
            <a:solidFill>
              <a:srgbClr val="FDE70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-945-615">
            <a:extLst>
              <a:ext uri="{FF2B5EF4-FFF2-40B4-BE49-F238E27FC236}">
                <a16:creationId xmlns:a16="http://schemas.microsoft.com/office/drawing/2014/main" id="{BE55E1B8-7428-48EC-B8A7-2783D7DCF20C}"/>
              </a:ext>
            </a:extLst>
          </p:cNvPr>
          <p:cNvSpPr>
            <a:spLocks noGrp="1"/>
          </p:cNvSpPr>
          <p:nvPr/>
        </p:nvSpPr>
        <p:spPr>
          <a:xfrm>
            <a:off x="9001125" y="58578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Fragen</a:t>
            </a:r>
            <a:r>
              <a:rPr sz="15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&amp; </a:t>
            </a:r>
            <a:r>
              <a:rPr sz="15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Diskussion</a:t>
            </a:r>
            <a:endParaRPr sz="15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114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8495-38D0-638E-BDBF-7D62724D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Demonstration des Prototyps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DCD1F-CB2C-EE8B-6CDB-6559E7CCF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CH" dirty="0"/>
              <a:t>Vorbereitetes Netzwerk im Web-Editor öffnen.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H" dirty="0"/>
              <a:t>Hosts, Switches und Verbindungen zeigen.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H" dirty="0"/>
              <a:t>Zwei oder drei ALLOW-/DENY-Constraints erklären.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H" dirty="0"/>
              <a:t>Segmentierung ausführen.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H" dirty="0"/>
              <a:t>VLAN-Zuweisungen und Netzwerkvisualisierung zeigen.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H" dirty="0"/>
              <a:t>Ergebnis der Validierung hervorheben.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EBC42-0F9B-E096-D937-D143EA43DE0E}"/>
              </a:ext>
            </a:extLst>
          </p:cNvPr>
          <p:cNvSpPr/>
          <p:nvPr/>
        </p:nvSpPr>
        <p:spPr>
          <a:xfrm>
            <a:off x="838200" y="4900246"/>
            <a:ext cx="4366846" cy="1276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Eines der Company Netze zeigen</a:t>
            </a:r>
          </a:p>
        </p:txBody>
      </p:sp>
    </p:spTree>
    <p:extLst>
      <p:ext uri="{BB962C8B-B14F-4D97-AF65-F5344CB8AC3E}">
        <p14:creationId xmlns:p14="http://schemas.microsoft.com/office/powerpoint/2010/main" val="103599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2140</Words>
  <Application>Microsoft Macintosh PowerPoint</Application>
  <PresentationFormat>Widescreen</PresentationFormat>
  <Paragraphs>434</Paragraphs>
  <Slides>25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Demonstration des Prototyps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Vogt 1 (s)</dc:creator>
  <cp:lastModifiedBy>Martin Vogt 1 (s)</cp:lastModifiedBy>
  <cp:revision>14</cp:revision>
  <dcterms:created xsi:type="dcterms:W3CDTF">2026-08-30T12:06:24Z</dcterms:created>
  <dcterms:modified xsi:type="dcterms:W3CDTF">2026-08-31T21:11:52Z</dcterms:modified>
</cp:coreProperties>
</file>